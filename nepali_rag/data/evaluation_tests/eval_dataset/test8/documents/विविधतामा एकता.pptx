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6256000" cy="9144000"/>
  <p:notesSz cx="9144000" cy="16256000"/>
  <p:embeddedFontLst>
    <p:embeddedFont>
      <p:font typeface="MiSans" charset="-122" pitchFamily="34"/>
      <p:regular r:id="rId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4318000" y="2794000"/>
            <a:ext cx="7620000" cy="0"/>
          </a:xfrm>
          <a:prstGeom prst="straightConnector1">
            <a:avLst/>
          </a:prstGeom>
          <a:noFill/>
          <a:ln w="25400">
            <a:solidFill>
              <a:srgbClr val="B7410E"/>
            </a:solidFill>
            <a:prstDash val="solid"/>
            <a:headEnd type="none"/>
            <a:tailEnd type="none"/>
          </a:ln>
        </p:spPr>
      </p:sp>
      <p:sp>
        <p:nvSpPr>
          <p:cNvPr id="3" name="Text 1"/>
          <p:cNvSpPr/>
          <p:nvPr/>
        </p:nvSpPr>
        <p:spPr>
          <a:xfrm>
            <a:off x="1778000" y="3048000"/>
            <a:ext cx="12700000" cy="1016000"/>
          </a:xfrm>
          <a:prstGeom prst="rect">
            <a:avLst/>
          </a:prstGeom>
          <a:noFill/>
          <a:ln/>
        </p:spPr>
        <p:txBody>
          <a:bodyPr wrap="none" lIns="0" tIns="0" rIns="0" bIns="0" rtlCol="0" anchor="ctr"/>
          <a:lstStyle/>
          <a:p>
            <a:pPr algn="ctr">
              <a:lnSpc>
                <a:spcPct val="120000"/>
              </a:lnSpc>
            </a:pPr>
            <a:r>
              <a:rPr lang="en-US" sz="5600" b="1" spc="600" kern="0" dirty="0">
                <a:solidFill>
                  <a:srgbClr val="B7410E"/>
                </a:solidFill>
                <a:latin typeface="思源宋体" pitchFamily="34" charset="0"/>
                <a:ea typeface="思源宋体" pitchFamily="34" charset="-122"/>
                <a:cs typeface="思源宋体" pitchFamily="34" charset="-120"/>
              </a:rPr>
              <a:t>विविधतामा एकता</a:t>
            </a:r>
            <a:endParaRPr lang="en-US" sz="5600" dirty="0"/>
          </a:p>
        </p:txBody>
      </p:sp>
      <p:sp>
        <p:nvSpPr>
          <p:cNvPr id="4" name="Shape 2"/>
          <p:cNvSpPr/>
          <p:nvPr/>
        </p:nvSpPr>
        <p:spPr>
          <a:xfrm>
            <a:off x="4318000" y="4318000"/>
            <a:ext cx="7620000" cy="0"/>
          </a:xfrm>
          <a:prstGeom prst="straightConnector1">
            <a:avLst/>
          </a:prstGeom>
          <a:noFill/>
          <a:ln w="25400">
            <a:solidFill>
              <a:srgbClr val="B7410E"/>
            </a:solidFill>
            <a:prstDash val="solid"/>
            <a:headEnd type="none"/>
            <a:tailEnd type="none"/>
          </a:ln>
        </p:spPr>
      </p:sp>
      <p:sp>
        <p:nvSpPr>
          <p:cNvPr id="5" name="Shape 3"/>
          <p:cNvSpPr/>
          <p:nvPr/>
        </p:nvSpPr>
        <p:spPr>
          <a:xfrm>
            <a:off x="7924800" y="4419600"/>
            <a:ext cx="406400" cy="406400"/>
          </a:xfrm>
          <a:prstGeom prst="diamond">
            <a:avLst/>
          </a:prstGeom>
          <a:solidFill>
            <a:srgbClr val="B7410E"/>
          </a:solidFill>
          <a:ln/>
        </p:spPr>
      </p:sp>
      <p:sp>
        <p:nvSpPr>
          <p:cNvPr id="6" name="Text 4"/>
          <p:cNvSpPr/>
          <p:nvPr/>
        </p:nvSpPr>
        <p:spPr>
          <a:xfrm>
            <a:off x="3048000" y="5080000"/>
            <a:ext cx="10160000" cy="508000"/>
          </a:xfrm>
          <a:prstGeom prst="rect">
            <a:avLst/>
          </a:prstGeom>
          <a:noFill/>
          <a:ln/>
        </p:spPr>
        <p:txBody>
          <a:bodyPr wrap="none" lIns="0" tIns="0" rIns="0" bIns="0" rtlCol="0" anchor="ctr"/>
          <a:lstStyle/>
          <a:p>
            <a:pPr algn="ctr">
              <a:lnSpc>
                <a:spcPct val="140000"/>
              </a:lnSpc>
            </a:pPr>
            <a:r>
              <a:rPr lang="en-US" sz="2400" dirty="0">
                <a:solidFill>
                  <a:srgbClr val="8B7355"/>
                </a:solidFill>
                <a:latin typeface="MiSans" pitchFamily="34" charset="0"/>
                <a:ea typeface="MiSans" pitchFamily="34" charset="-122"/>
                <a:cs typeface="MiSans" pitchFamily="34" charset="-120"/>
              </a:rPr>
              <a:t>नेपालको सन्दर्भमा — विभिन्नता र एकताको अद्भुत सम्मिश्रण</a:t>
            </a:r>
            <a:endParaRPr lang="en-US" sz="2400" dirty="0"/>
          </a:p>
        </p:txBody>
      </p:sp>
      <p:sp>
        <p:nvSpPr>
          <p:cNvPr id="7" name="Shape 5"/>
          <p:cNvSpPr/>
          <p:nvPr/>
        </p:nvSpPr>
        <p:spPr>
          <a:xfrm>
            <a:off x="6223000" y="8128000"/>
            <a:ext cx="3810000" cy="50800"/>
          </a:xfrm>
          <a:prstGeom prst="rect">
            <a:avLst/>
          </a:prstGeom>
          <a:solidFill>
            <a:srgbClr val="B7410E"/>
          </a:solidFill>
          <a:ln/>
        </p:spPr>
      </p:sp>
      <p:sp>
        <p:nvSpPr>
          <p:cNvPr id="8" name="Shape 6"/>
          <p:cNvSpPr/>
          <p:nvPr/>
        </p:nvSpPr>
        <p:spPr>
          <a:xfrm>
            <a:off x="1016000" y="2286000"/>
            <a:ext cx="0" cy="4572000"/>
          </a:xfrm>
          <a:prstGeom prst="straightConnector1">
            <a:avLst/>
          </a:prstGeom>
          <a:noFill/>
          <a:ln w="12700">
            <a:solidFill>
              <a:srgbClr val="E8DFD0"/>
            </a:solidFill>
            <a:prstDash val="solid"/>
            <a:headEnd type="none"/>
            <a:tailEnd type="none"/>
          </a:ln>
        </p:spPr>
      </p:sp>
      <p:sp>
        <p:nvSpPr>
          <p:cNvPr id="9" name="Shape 7"/>
          <p:cNvSpPr/>
          <p:nvPr/>
        </p:nvSpPr>
        <p:spPr>
          <a:xfrm>
            <a:off x="15240000" y="2286000"/>
            <a:ext cx="0" cy="4572000"/>
          </a:xfrm>
          <a:prstGeom prst="straightConnector1">
            <a:avLst/>
          </a:prstGeom>
          <a:noFill/>
          <a:ln w="12700">
            <a:solidFill>
              <a:srgbClr val="E8DFD0"/>
            </a:solidFill>
            <a:prstDash val="solid"/>
            <a:headEnd type="none"/>
            <a:tailEnd type="none"/>
          </a:ln>
        </p:spPr>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762000" y="1016000"/>
            <a:ext cx="5080000" cy="762000"/>
          </a:xfrm>
          <a:prstGeom prst="rect">
            <a:avLst/>
          </a:prstGeom>
          <a:noFill/>
          <a:ln/>
        </p:spPr>
        <p:txBody>
          <a:bodyPr wrap="none" lIns="0" tIns="0" rIns="0" bIns="0" rtlCol="0" anchor="ctr"/>
          <a:lstStyle/>
          <a:p>
            <a:pPr algn="l">
              <a:lnSpc>
                <a:spcPct val="120000"/>
              </a:lnSpc>
            </a:pPr>
            <a:r>
              <a:rPr lang="en-US" sz="4200" b="1" dirty="0">
                <a:solidFill>
                  <a:srgbClr val="B7410E"/>
                </a:solidFill>
                <a:latin typeface="思源宋体" pitchFamily="34" charset="0"/>
                <a:ea typeface="思源宋体" pitchFamily="34" charset="-122"/>
                <a:cs typeface="思源宋体" pitchFamily="34" charset="-120"/>
              </a:rPr>
              <a:t>विषय सूची</a:t>
            </a:r>
            <a:endParaRPr lang="en-US" sz="4200" dirty="0"/>
          </a:p>
        </p:txBody>
      </p:sp>
      <p:sp>
        <p:nvSpPr>
          <p:cNvPr id="3" name="Shape 1"/>
          <p:cNvSpPr/>
          <p:nvPr/>
        </p:nvSpPr>
        <p:spPr>
          <a:xfrm>
            <a:off x="762000" y="1879600"/>
            <a:ext cx="1524000" cy="0"/>
          </a:xfrm>
          <a:prstGeom prst="straightConnector1">
            <a:avLst/>
          </a:prstGeom>
          <a:noFill/>
          <a:ln w="38100">
            <a:solidFill>
              <a:srgbClr val="B7410E"/>
            </a:solidFill>
            <a:prstDash val="solid"/>
            <a:headEnd type="none"/>
            <a:tailEnd type="none"/>
          </a:ln>
        </p:spPr>
      </p:sp>
      <p:sp>
        <p:nvSpPr>
          <p:cNvPr id="4" name="Shape 2"/>
          <p:cNvSpPr/>
          <p:nvPr/>
        </p:nvSpPr>
        <p:spPr>
          <a:xfrm>
            <a:off x="6350000" y="1016000"/>
            <a:ext cx="50800" cy="7112000"/>
          </a:xfrm>
          <a:prstGeom prst="rect">
            <a:avLst/>
          </a:prstGeom>
          <a:solidFill>
            <a:srgbClr val="E8DFD0"/>
          </a:solidFill>
          <a:ln/>
        </p:spPr>
      </p:sp>
      <p:sp>
        <p:nvSpPr>
          <p:cNvPr id="5" name="Text 3"/>
          <p:cNvSpPr/>
          <p:nvPr/>
        </p:nvSpPr>
        <p:spPr>
          <a:xfrm>
            <a:off x="6858000" y="1270000"/>
            <a:ext cx="1270000" cy="635000"/>
          </a:xfrm>
          <a:prstGeom prst="rect">
            <a:avLst/>
          </a:prstGeom>
          <a:noFill/>
          <a:ln/>
        </p:spPr>
        <p:txBody>
          <a:bodyPr wrap="none" lIns="0" tIns="0" rIns="0" bIns="0" rtlCol="0" anchor="ctr"/>
          <a:lstStyle/>
          <a:p>
            <a:pPr algn="l">
              <a:lnSpc>
                <a:spcPct val="120000"/>
              </a:lnSpc>
            </a:pPr>
            <a:r>
              <a:rPr lang="en-US" sz="3600" dirty="0">
                <a:solidFill>
                  <a:srgbClr val="B7410E"/>
                </a:solidFill>
                <a:latin typeface="思源宋体" pitchFamily="34" charset="0"/>
                <a:ea typeface="思源宋体" pitchFamily="34" charset="-122"/>
                <a:cs typeface="思源宋体" pitchFamily="34" charset="-120"/>
              </a:rPr>
              <a:t>०१</a:t>
            </a:r>
            <a:endParaRPr lang="en-US" sz="3600" dirty="0"/>
          </a:p>
        </p:txBody>
      </p:sp>
      <p:sp>
        <p:nvSpPr>
          <p:cNvPr id="6" name="Text 4"/>
          <p:cNvSpPr/>
          <p:nvPr/>
        </p:nvSpPr>
        <p:spPr>
          <a:xfrm>
            <a:off x="8255000" y="1270000"/>
            <a:ext cx="7112000" cy="381000"/>
          </a:xfrm>
          <a:prstGeom prst="rect">
            <a:avLst/>
          </a:prstGeom>
          <a:noFill/>
          <a:ln/>
        </p:spPr>
        <p:txBody>
          <a:bodyPr wrap="none" lIns="0" tIns="0" rIns="0" bIns="0" rtlCol="0" anchor="ctr"/>
          <a:lstStyle/>
          <a:p>
            <a:pPr algn="l">
              <a:lnSpc>
                <a:spcPct val="120000"/>
              </a:lnSpc>
            </a:pPr>
            <a:r>
              <a:rPr lang="en-US" sz="2200" b="1" dirty="0">
                <a:solidFill>
                  <a:srgbClr val="2C1810"/>
                </a:solidFill>
                <a:latin typeface="思源宋体" pitchFamily="34" charset="0"/>
                <a:ea typeface="思源宋体" pitchFamily="34" charset="-122"/>
                <a:cs typeface="思源宋体" pitchFamily="34" charset="-120"/>
              </a:rPr>
              <a:t>परिचय — विविधतामा एकता</a:t>
            </a:r>
            <a:endParaRPr lang="en-US" sz="2200" dirty="0"/>
          </a:p>
        </p:txBody>
      </p:sp>
      <p:sp>
        <p:nvSpPr>
          <p:cNvPr id="7" name="Text 5"/>
          <p:cNvSpPr/>
          <p:nvPr/>
        </p:nvSpPr>
        <p:spPr>
          <a:xfrm>
            <a:off x="8255000" y="1778000"/>
            <a:ext cx="7112000" cy="279400"/>
          </a:xfrm>
          <a:prstGeom prst="rect">
            <a:avLst/>
          </a:prstGeom>
          <a:noFill/>
          <a:ln/>
        </p:spPr>
        <p:txBody>
          <a:bodyPr wrap="none" lIns="0" tIns="0" rIns="0" bIns="0" rtlCol="0" anchor="ctr"/>
          <a:lstStyle/>
          <a:p>
            <a:pPr algn="l">
              <a:lnSpc>
                <a:spcPct val="140000"/>
              </a:lnSpc>
            </a:pPr>
            <a:r>
              <a:rPr lang="en-US" sz="1600" dirty="0">
                <a:solidFill>
                  <a:srgbClr val="8B7355"/>
                </a:solidFill>
                <a:latin typeface="MiSans" pitchFamily="34" charset="0"/>
                <a:ea typeface="MiSans" pitchFamily="34" charset="-122"/>
                <a:cs typeface="MiSans" pitchFamily="34" charset="-120"/>
              </a:rPr>
              <a:t>विविधतामा एकताको अवधारणा र नेपालको विशिष्ट पहिचान</a:t>
            </a:r>
            <a:endParaRPr lang="en-US" sz="1600" dirty="0"/>
          </a:p>
        </p:txBody>
      </p:sp>
      <p:sp>
        <p:nvSpPr>
          <p:cNvPr id="8" name="Shape 6"/>
          <p:cNvSpPr/>
          <p:nvPr/>
        </p:nvSpPr>
        <p:spPr>
          <a:xfrm>
            <a:off x="6858000" y="2222500"/>
            <a:ext cx="8636000" cy="0"/>
          </a:xfrm>
          <a:prstGeom prst="straightConnector1">
            <a:avLst/>
          </a:prstGeom>
          <a:noFill/>
          <a:ln w="12700">
            <a:solidFill>
              <a:srgbClr val="E8DFD0"/>
            </a:solidFill>
            <a:prstDash val="solid"/>
            <a:headEnd type="none"/>
            <a:tailEnd type="none"/>
          </a:ln>
        </p:spPr>
      </p:sp>
      <p:sp>
        <p:nvSpPr>
          <p:cNvPr id="9" name="Text 7"/>
          <p:cNvSpPr/>
          <p:nvPr/>
        </p:nvSpPr>
        <p:spPr>
          <a:xfrm>
            <a:off x="6858000" y="2540000"/>
            <a:ext cx="1270000" cy="635000"/>
          </a:xfrm>
          <a:prstGeom prst="rect">
            <a:avLst/>
          </a:prstGeom>
          <a:noFill/>
          <a:ln/>
        </p:spPr>
        <p:txBody>
          <a:bodyPr wrap="none" lIns="0" tIns="0" rIns="0" bIns="0" rtlCol="0" anchor="ctr"/>
          <a:lstStyle/>
          <a:p>
            <a:pPr algn="l">
              <a:lnSpc>
                <a:spcPct val="120000"/>
              </a:lnSpc>
            </a:pPr>
            <a:r>
              <a:rPr lang="en-US" sz="3600" dirty="0">
                <a:solidFill>
                  <a:srgbClr val="B7410E"/>
                </a:solidFill>
                <a:latin typeface="思源宋体" pitchFamily="34" charset="0"/>
                <a:ea typeface="思源宋体" pitchFamily="34" charset="-122"/>
                <a:cs typeface="思源宋体" pitchFamily="34" charset="-120"/>
              </a:rPr>
              <a:t>०२</a:t>
            </a:r>
            <a:endParaRPr lang="en-US" sz="3600" dirty="0"/>
          </a:p>
        </p:txBody>
      </p:sp>
      <p:sp>
        <p:nvSpPr>
          <p:cNvPr id="10" name="Text 8"/>
          <p:cNvSpPr/>
          <p:nvPr/>
        </p:nvSpPr>
        <p:spPr>
          <a:xfrm>
            <a:off x="8255000" y="2540000"/>
            <a:ext cx="7112000" cy="381000"/>
          </a:xfrm>
          <a:prstGeom prst="rect">
            <a:avLst/>
          </a:prstGeom>
          <a:noFill/>
          <a:ln/>
        </p:spPr>
        <p:txBody>
          <a:bodyPr wrap="none" lIns="0" tIns="0" rIns="0" bIns="0" rtlCol="0" anchor="ctr"/>
          <a:lstStyle/>
          <a:p>
            <a:pPr algn="l">
              <a:lnSpc>
                <a:spcPct val="120000"/>
              </a:lnSpc>
            </a:pPr>
            <a:r>
              <a:rPr lang="en-US" sz="2200" b="1" dirty="0">
                <a:solidFill>
                  <a:srgbClr val="2C1810"/>
                </a:solidFill>
                <a:latin typeface="思源宋体" pitchFamily="34" charset="0"/>
                <a:ea typeface="思源宋体" pitchFamily="34" charset="-122"/>
                <a:cs typeface="思源宋体" pitchFamily="34" charset="-120"/>
              </a:rPr>
              <a:t>नेपालको बहुआयामिक विविधता</a:t>
            </a:r>
            <a:endParaRPr lang="en-US" sz="2200" dirty="0"/>
          </a:p>
        </p:txBody>
      </p:sp>
      <p:sp>
        <p:nvSpPr>
          <p:cNvPr id="11" name="Text 9"/>
          <p:cNvSpPr/>
          <p:nvPr/>
        </p:nvSpPr>
        <p:spPr>
          <a:xfrm>
            <a:off x="8255000" y="3048000"/>
            <a:ext cx="7112000" cy="279400"/>
          </a:xfrm>
          <a:prstGeom prst="rect">
            <a:avLst/>
          </a:prstGeom>
          <a:noFill/>
          <a:ln/>
        </p:spPr>
        <p:txBody>
          <a:bodyPr wrap="none" lIns="0" tIns="0" rIns="0" bIns="0" rtlCol="0" anchor="ctr"/>
          <a:lstStyle/>
          <a:p>
            <a:pPr algn="l">
              <a:lnSpc>
                <a:spcPct val="140000"/>
              </a:lnSpc>
            </a:pPr>
            <a:r>
              <a:rPr lang="en-US" sz="1600" dirty="0">
                <a:solidFill>
                  <a:srgbClr val="8B7355"/>
                </a:solidFill>
                <a:latin typeface="MiSans" pitchFamily="34" charset="0"/>
                <a:ea typeface="MiSans" pitchFamily="34" charset="-122"/>
                <a:cs typeface="MiSans" pitchFamily="34" charset="-120"/>
              </a:rPr>
              <a:t>जातीय, भाषिक, धार्मिक र सांस्कृतिक विविधताको विश्लेषण</a:t>
            </a:r>
            <a:endParaRPr lang="en-US" sz="1600" dirty="0"/>
          </a:p>
        </p:txBody>
      </p:sp>
      <p:sp>
        <p:nvSpPr>
          <p:cNvPr id="12" name="Shape 10"/>
          <p:cNvSpPr/>
          <p:nvPr/>
        </p:nvSpPr>
        <p:spPr>
          <a:xfrm>
            <a:off x="6858000" y="3492500"/>
            <a:ext cx="8636000" cy="0"/>
          </a:xfrm>
          <a:prstGeom prst="straightConnector1">
            <a:avLst/>
          </a:prstGeom>
          <a:noFill/>
          <a:ln w="12700">
            <a:solidFill>
              <a:srgbClr val="E8DFD0"/>
            </a:solidFill>
            <a:prstDash val="solid"/>
            <a:headEnd type="none"/>
            <a:tailEnd type="none"/>
          </a:ln>
        </p:spPr>
      </p:sp>
      <p:sp>
        <p:nvSpPr>
          <p:cNvPr id="13" name="Text 11"/>
          <p:cNvSpPr/>
          <p:nvPr/>
        </p:nvSpPr>
        <p:spPr>
          <a:xfrm>
            <a:off x="6858000" y="3810000"/>
            <a:ext cx="1270000" cy="635000"/>
          </a:xfrm>
          <a:prstGeom prst="rect">
            <a:avLst/>
          </a:prstGeom>
          <a:noFill/>
          <a:ln/>
        </p:spPr>
        <p:txBody>
          <a:bodyPr wrap="none" lIns="0" tIns="0" rIns="0" bIns="0" rtlCol="0" anchor="ctr"/>
          <a:lstStyle/>
          <a:p>
            <a:pPr algn="l">
              <a:lnSpc>
                <a:spcPct val="120000"/>
              </a:lnSpc>
            </a:pPr>
            <a:r>
              <a:rPr lang="en-US" sz="3600" dirty="0">
                <a:solidFill>
                  <a:srgbClr val="B7410E"/>
                </a:solidFill>
                <a:latin typeface="思源宋体" pitchFamily="34" charset="0"/>
                <a:ea typeface="思源宋体" pitchFamily="34" charset="-122"/>
                <a:cs typeface="思源宋体" pitchFamily="34" charset="-120"/>
              </a:rPr>
              <a:t>०३</a:t>
            </a:r>
            <a:endParaRPr lang="en-US" sz="3600" dirty="0"/>
          </a:p>
        </p:txBody>
      </p:sp>
      <p:sp>
        <p:nvSpPr>
          <p:cNvPr id="14" name="Text 12"/>
          <p:cNvSpPr/>
          <p:nvPr/>
        </p:nvSpPr>
        <p:spPr>
          <a:xfrm>
            <a:off x="8255000" y="3810000"/>
            <a:ext cx="7112000" cy="381000"/>
          </a:xfrm>
          <a:prstGeom prst="rect">
            <a:avLst/>
          </a:prstGeom>
          <a:noFill/>
          <a:ln/>
        </p:spPr>
        <p:txBody>
          <a:bodyPr wrap="none" lIns="0" tIns="0" rIns="0" bIns="0" rtlCol="0" anchor="ctr"/>
          <a:lstStyle/>
          <a:p>
            <a:pPr algn="l">
              <a:lnSpc>
                <a:spcPct val="120000"/>
              </a:lnSpc>
            </a:pPr>
            <a:r>
              <a:rPr lang="en-US" sz="2200" b="1" dirty="0">
                <a:solidFill>
                  <a:srgbClr val="2C1810"/>
                </a:solidFill>
                <a:latin typeface="思源宋体" pitchFamily="34" charset="0"/>
                <a:ea typeface="思源宋体" pitchFamily="34" charset="-122"/>
                <a:cs typeface="思源宋体" pitchFamily="34" charset="-120"/>
              </a:rPr>
              <a:t>एकताको आधार र चुनौतीहरू</a:t>
            </a:r>
            <a:endParaRPr lang="en-US" sz="2200" dirty="0"/>
          </a:p>
        </p:txBody>
      </p:sp>
      <p:sp>
        <p:nvSpPr>
          <p:cNvPr id="15" name="Text 13"/>
          <p:cNvSpPr/>
          <p:nvPr/>
        </p:nvSpPr>
        <p:spPr>
          <a:xfrm>
            <a:off x="8255000" y="4318000"/>
            <a:ext cx="7112000" cy="279400"/>
          </a:xfrm>
          <a:prstGeom prst="rect">
            <a:avLst/>
          </a:prstGeom>
          <a:noFill/>
          <a:ln/>
        </p:spPr>
        <p:txBody>
          <a:bodyPr wrap="none" lIns="0" tIns="0" rIns="0" bIns="0" rtlCol="0" anchor="ctr"/>
          <a:lstStyle/>
          <a:p>
            <a:pPr algn="l">
              <a:lnSpc>
                <a:spcPct val="140000"/>
              </a:lnSpc>
            </a:pPr>
            <a:r>
              <a:rPr lang="en-US" sz="1600" dirty="0">
                <a:solidFill>
                  <a:srgbClr val="8B7355"/>
                </a:solidFill>
                <a:latin typeface="MiSans" pitchFamily="34" charset="0"/>
                <a:ea typeface="MiSans" pitchFamily="34" charset="-122"/>
                <a:cs typeface="MiSans" pitchFamily="34" charset="-120"/>
              </a:rPr>
              <a:t>राष्ट्रिय एकताका स्तम्भहरू र विद्यमान चुनौतीहरूको समीक्षा</a:t>
            </a:r>
            <a:endParaRPr lang="en-US" sz="1600" dirty="0"/>
          </a:p>
        </p:txBody>
      </p:sp>
      <p:sp>
        <p:nvSpPr>
          <p:cNvPr id="16" name="Shape 14"/>
          <p:cNvSpPr/>
          <p:nvPr/>
        </p:nvSpPr>
        <p:spPr>
          <a:xfrm>
            <a:off x="6858000" y="4762500"/>
            <a:ext cx="8636000" cy="0"/>
          </a:xfrm>
          <a:prstGeom prst="straightConnector1">
            <a:avLst/>
          </a:prstGeom>
          <a:noFill/>
          <a:ln w="12700">
            <a:solidFill>
              <a:srgbClr val="E8DFD0"/>
            </a:solidFill>
            <a:prstDash val="solid"/>
            <a:headEnd type="none"/>
            <a:tailEnd type="none"/>
          </a:ln>
        </p:spPr>
      </p:sp>
      <p:sp>
        <p:nvSpPr>
          <p:cNvPr id="17" name="Text 15"/>
          <p:cNvSpPr/>
          <p:nvPr/>
        </p:nvSpPr>
        <p:spPr>
          <a:xfrm>
            <a:off x="6858000" y="5080000"/>
            <a:ext cx="1270000" cy="635000"/>
          </a:xfrm>
          <a:prstGeom prst="rect">
            <a:avLst/>
          </a:prstGeom>
          <a:noFill/>
          <a:ln/>
        </p:spPr>
        <p:txBody>
          <a:bodyPr wrap="none" lIns="0" tIns="0" rIns="0" bIns="0" rtlCol="0" anchor="ctr"/>
          <a:lstStyle/>
          <a:p>
            <a:pPr algn="l">
              <a:lnSpc>
                <a:spcPct val="120000"/>
              </a:lnSpc>
            </a:pPr>
            <a:r>
              <a:rPr lang="en-US" sz="3600" dirty="0">
                <a:solidFill>
                  <a:srgbClr val="B7410E"/>
                </a:solidFill>
                <a:latin typeface="思源宋体" pitchFamily="34" charset="0"/>
                <a:ea typeface="思源宋体" pitchFamily="34" charset="-122"/>
                <a:cs typeface="思源宋体" pitchFamily="34" charset="-120"/>
              </a:rPr>
              <a:t>०४</a:t>
            </a:r>
            <a:endParaRPr lang="en-US" sz="3600" dirty="0"/>
          </a:p>
        </p:txBody>
      </p:sp>
      <p:sp>
        <p:nvSpPr>
          <p:cNvPr id="18" name="Text 16"/>
          <p:cNvSpPr/>
          <p:nvPr/>
        </p:nvSpPr>
        <p:spPr>
          <a:xfrm>
            <a:off x="8255000" y="5080000"/>
            <a:ext cx="7112000" cy="381000"/>
          </a:xfrm>
          <a:prstGeom prst="rect">
            <a:avLst/>
          </a:prstGeom>
          <a:noFill/>
          <a:ln/>
        </p:spPr>
        <p:txBody>
          <a:bodyPr wrap="none" lIns="0" tIns="0" rIns="0" bIns="0" rtlCol="0" anchor="ctr"/>
          <a:lstStyle/>
          <a:p>
            <a:pPr algn="l">
              <a:lnSpc>
                <a:spcPct val="120000"/>
              </a:lnSpc>
            </a:pPr>
            <a:r>
              <a:rPr lang="en-US" sz="2200" b="1" dirty="0">
                <a:solidFill>
                  <a:srgbClr val="2C1810"/>
                </a:solidFill>
                <a:latin typeface="思源宋体" pitchFamily="34" charset="0"/>
                <a:ea typeface="思源宋体" pitchFamily="34" charset="-122"/>
                <a:cs typeface="思源宋体" pitchFamily="34" charset="-120"/>
              </a:rPr>
              <a:t>निष्कर्ष र मार्गदर्शन</a:t>
            </a:r>
            <a:endParaRPr lang="en-US" sz="2200" dirty="0"/>
          </a:p>
        </p:txBody>
      </p:sp>
      <p:sp>
        <p:nvSpPr>
          <p:cNvPr id="19" name="Text 17"/>
          <p:cNvSpPr/>
          <p:nvPr/>
        </p:nvSpPr>
        <p:spPr>
          <a:xfrm>
            <a:off x="8255000" y="5588000"/>
            <a:ext cx="7112000" cy="279400"/>
          </a:xfrm>
          <a:prstGeom prst="rect">
            <a:avLst/>
          </a:prstGeom>
          <a:noFill/>
          <a:ln/>
        </p:spPr>
        <p:txBody>
          <a:bodyPr wrap="none" lIns="0" tIns="0" rIns="0" bIns="0" rtlCol="0" anchor="ctr"/>
          <a:lstStyle/>
          <a:p>
            <a:pPr algn="l">
              <a:lnSpc>
                <a:spcPct val="140000"/>
              </a:lnSpc>
            </a:pPr>
            <a:r>
              <a:rPr lang="en-US" sz="1600" dirty="0">
                <a:solidFill>
                  <a:srgbClr val="8B7355"/>
                </a:solidFill>
                <a:latin typeface="MiSans" pitchFamily="34" charset="0"/>
                <a:ea typeface="MiSans" pitchFamily="34" charset="-122"/>
                <a:cs typeface="MiSans" pitchFamily="34" charset="-120"/>
              </a:rPr>
              <a:t>विविधतामा एकताको बाटो — हाम्रो साझा दायित्व</a:t>
            </a:r>
            <a:endParaRPr lang="en-US" sz="1600" dirty="0"/>
          </a:p>
        </p:txBody>
      </p:sp>
      <p:sp>
        <p:nvSpPr>
          <p:cNvPr id="20" name="Shape 18"/>
          <p:cNvSpPr/>
          <p:nvPr/>
        </p:nvSpPr>
        <p:spPr>
          <a:xfrm>
            <a:off x="762000" y="8382000"/>
            <a:ext cx="14732000" cy="0"/>
          </a:xfrm>
          <a:prstGeom prst="straightConnector1">
            <a:avLst/>
          </a:prstGeom>
          <a:noFill/>
          <a:ln w="12700">
            <a:solidFill>
              <a:srgbClr val="E8DFD0"/>
            </a:solidFill>
            <a:prstDash val="solid"/>
            <a:headEnd type="none"/>
            <a:tailEnd type="none"/>
          </a:ln>
        </p:spPr>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D2317"/>
        </a:solidFill>
      </p:bgPr>
    </p:bg>
    <p:spTree>
      <p:nvGrpSpPr>
        <p:cNvPr id="1" name=""/>
        <p:cNvGrpSpPr/>
        <p:nvPr/>
      </p:nvGrpSpPr>
      <p:grpSpPr>
        <a:xfrm>
          <a:off x="0" y="0"/>
          <a:ext cx="0" cy="0"/>
          <a:chOff x="0" y="0"/>
          <a:chExt cx="0" cy="0"/>
        </a:xfrm>
      </p:grpSpPr>
      <p:sp>
        <p:nvSpPr>
          <p:cNvPr id="2" name="Text 0"/>
          <p:cNvSpPr/>
          <p:nvPr/>
        </p:nvSpPr>
        <p:spPr>
          <a:xfrm>
            <a:off x="762000" y="2032000"/>
            <a:ext cx="3810000" cy="1270000"/>
          </a:xfrm>
          <a:prstGeom prst="rect">
            <a:avLst/>
          </a:prstGeom>
          <a:noFill/>
          <a:ln/>
        </p:spPr>
        <p:txBody>
          <a:bodyPr wrap="none" lIns="0" tIns="0" rIns="0" bIns="0" rtlCol="0" anchor="ctr"/>
          <a:lstStyle/>
          <a:p>
            <a:pPr algn="l">
              <a:lnSpc>
                <a:spcPct val="100000"/>
              </a:lnSpc>
            </a:pPr>
            <a:r>
              <a:rPr lang="en-US" sz="9600" dirty="0">
                <a:solidFill>
                  <a:srgbClr val="B7410E"/>
                </a:solidFill>
                <a:latin typeface="思源宋体" pitchFamily="34" charset="0"/>
                <a:ea typeface="思源宋体" pitchFamily="34" charset="-122"/>
                <a:cs typeface="思源宋体" pitchFamily="34" charset="-120"/>
              </a:rPr>
              <a:t>०१</a:t>
            </a:r>
            <a:endParaRPr lang="en-US" sz="9600" dirty="0"/>
          </a:p>
        </p:txBody>
      </p:sp>
      <p:sp>
        <p:nvSpPr>
          <p:cNvPr id="3" name="Text 1"/>
          <p:cNvSpPr/>
          <p:nvPr/>
        </p:nvSpPr>
        <p:spPr>
          <a:xfrm>
            <a:off x="762000" y="3556000"/>
            <a:ext cx="8890000" cy="762000"/>
          </a:xfrm>
          <a:prstGeom prst="rect">
            <a:avLst/>
          </a:prstGeom>
          <a:noFill/>
          <a:ln/>
        </p:spPr>
        <p:txBody>
          <a:bodyPr wrap="none" lIns="0" tIns="0" rIns="0" bIns="0" rtlCol="0" anchor="ctr"/>
          <a:lstStyle/>
          <a:p>
            <a:pPr algn="l">
              <a:lnSpc>
                <a:spcPct val="120000"/>
              </a:lnSpc>
            </a:pPr>
            <a:r>
              <a:rPr lang="en-US" sz="4400" b="1" dirty="0">
                <a:solidFill>
                  <a:srgbClr val="FFFFFF"/>
                </a:solidFill>
                <a:latin typeface="思源宋体" pitchFamily="34" charset="0"/>
                <a:ea typeface="思源宋体" pitchFamily="34" charset="-122"/>
                <a:cs typeface="思源宋体" pitchFamily="34" charset="-120"/>
              </a:rPr>
              <a:t>परिचय</a:t>
            </a:r>
            <a:endParaRPr lang="en-US" sz="4400" dirty="0"/>
          </a:p>
        </p:txBody>
      </p:sp>
      <p:sp>
        <p:nvSpPr>
          <p:cNvPr id="4" name="Shape 2"/>
          <p:cNvSpPr/>
          <p:nvPr/>
        </p:nvSpPr>
        <p:spPr>
          <a:xfrm>
            <a:off x="762000" y="4470400"/>
            <a:ext cx="2032000" cy="0"/>
          </a:xfrm>
          <a:prstGeom prst="straightConnector1">
            <a:avLst/>
          </a:prstGeom>
          <a:noFill/>
          <a:ln w="38100">
            <a:solidFill>
              <a:srgbClr val="B7410E"/>
            </a:solidFill>
            <a:prstDash val="solid"/>
            <a:headEnd type="none"/>
            <a:tailEnd type="none"/>
          </a:ln>
        </p:spPr>
      </p:sp>
      <p:sp>
        <p:nvSpPr>
          <p:cNvPr id="5" name="Text 3"/>
          <p:cNvSpPr/>
          <p:nvPr/>
        </p:nvSpPr>
        <p:spPr>
          <a:xfrm>
            <a:off x="762000" y="4762500"/>
            <a:ext cx="10160000" cy="508000"/>
          </a:xfrm>
          <a:prstGeom prst="rect">
            <a:avLst/>
          </a:prstGeom>
          <a:noFill/>
          <a:ln/>
        </p:spPr>
        <p:txBody>
          <a:bodyPr wrap="none" lIns="0" tIns="0" rIns="0" bIns="0" rtlCol="0" anchor="ctr"/>
          <a:lstStyle/>
          <a:p>
            <a:pPr algn="l">
              <a:lnSpc>
                <a:spcPct val="140000"/>
              </a:lnSpc>
            </a:pPr>
            <a:r>
              <a:rPr lang="en-US" sz="2000" dirty="0">
                <a:solidFill>
                  <a:srgbClr val="E8DFD0"/>
                </a:solidFill>
                <a:latin typeface="MiSans" pitchFamily="34" charset="0"/>
                <a:ea typeface="MiSans" pitchFamily="34" charset="-122"/>
                <a:cs typeface="MiSans" pitchFamily="34" charset="-120"/>
              </a:rPr>
              <a:t>विविधतामा एकताको अवधारणा र नेपालको विशिष्ट पहिचान</a:t>
            </a:r>
            <a:endParaRPr lang="en-US" sz="2000" dirty="0"/>
          </a:p>
        </p:txBody>
      </p:sp>
      <p:sp>
        <p:nvSpPr>
          <p:cNvPr id="6" name="Shape 4"/>
          <p:cNvSpPr/>
          <p:nvPr/>
        </p:nvSpPr>
        <p:spPr>
          <a:xfrm>
            <a:off x="12446000" y="1524000"/>
            <a:ext cx="3048000" cy="2540000"/>
          </a:xfrm>
          <a:prstGeom prst="rect">
            <a:avLst/>
          </a:prstGeom>
          <a:solidFill>
            <a:srgbClr val="B7410E">
              <a:alpha val="12549"/>
            </a:srgbClr>
          </a:solidFill>
          <a:ln/>
        </p:spPr>
      </p:sp>
      <p:sp>
        <p:nvSpPr>
          <p:cNvPr id="7" name="Shape 5"/>
          <p:cNvSpPr/>
          <p:nvPr/>
        </p:nvSpPr>
        <p:spPr>
          <a:xfrm>
            <a:off x="13335000" y="3556000"/>
            <a:ext cx="2159000" cy="2032000"/>
          </a:xfrm>
          <a:prstGeom prst="rect">
            <a:avLst/>
          </a:prstGeom>
          <a:solidFill>
            <a:srgbClr val="B7410E">
              <a:alpha val="8235"/>
            </a:srgbClr>
          </a:solidFill>
          <a:ln/>
        </p:spPr>
      </p:sp>
      <p:sp>
        <p:nvSpPr>
          <p:cNvPr id="8" name="Shape 6"/>
          <p:cNvSpPr/>
          <p:nvPr/>
        </p:nvSpPr>
        <p:spPr>
          <a:xfrm>
            <a:off x="11938000" y="1270000"/>
            <a:ext cx="0" cy="6604000"/>
          </a:xfrm>
          <a:prstGeom prst="straightConnector1">
            <a:avLst/>
          </a:prstGeom>
          <a:noFill/>
          <a:ln w="12700">
            <a:solidFill>
              <a:srgbClr val="B7410E">
                <a:alpha val="18824"/>
              </a:srgbClr>
            </a:solidFill>
            <a:prstDash val="solid"/>
            <a:headEnd type="none"/>
            <a:tailEnd type="none"/>
          </a:ln>
        </p:spPr>
      </p:sp>
      <p:sp>
        <p:nvSpPr>
          <p:cNvPr id="9" name="Shape 7"/>
          <p:cNvSpPr/>
          <p:nvPr/>
        </p:nvSpPr>
        <p:spPr>
          <a:xfrm>
            <a:off x="0" y="8890000"/>
            <a:ext cx="16256000" cy="254000"/>
          </a:xfrm>
          <a:prstGeom prst="rect">
            <a:avLst/>
          </a:prstGeom>
          <a:solidFill>
            <a:srgbClr val="B7410E"/>
          </a:solidFill>
          <a:ln/>
        </p:spPr>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762000" y="660400"/>
            <a:ext cx="63500" cy="457200"/>
          </a:xfrm>
          <a:prstGeom prst="rect">
            <a:avLst/>
          </a:prstGeom>
          <a:solidFill>
            <a:srgbClr val="B7410E"/>
          </a:solidFill>
          <a:ln/>
        </p:spPr>
      </p:sp>
      <p:sp>
        <p:nvSpPr>
          <p:cNvPr id="3" name="Text 1"/>
          <p:cNvSpPr/>
          <p:nvPr/>
        </p:nvSpPr>
        <p:spPr>
          <a:xfrm>
            <a:off x="990600" y="609600"/>
            <a:ext cx="11430000" cy="558800"/>
          </a:xfrm>
          <a:prstGeom prst="rect">
            <a:avLst/>
          </a:prstGeom>
          <a:noFill/>
          <a:ln/>
        </p:spPr>
        <p:txBody>
          <a:bodyPr wrap="none" lIns="0" tIns="0" rIns="0" bIns="0" rtlCol="0" anchor="ctr"/>
          <a:lstStyle/>
          <a:p>
            <a:pPr algn="l">
              <a:lnSpc>
                <a:spcPct val="130000"/>
              </a:lnSpc>
            </a:pPr>
            <a:r>
              <a:rPr lang="en-US" sz="3000" b="1" dirty="0">
                <a:solidFill>
                  <a:srgbClr val="2C1810"/>
                </a:solidFill>
                <a:latin typeface="思源宋体" pitchFamily="34" charset="0"/>
                <a:ea typeface="思源宋体" pitchFamily="34" charset="-122"/>
                <a:cs typeface="思源宋体" pitchFamily="34" charset="-120"/>
              </a:rPr>
              <a:t>विविधतामा एकता — अर्थ र महत्त्व</a:t>
            </a:r>
            <a:endParaRPr lang="en-US" sz="3000" dirty="0"/>
          </a:p>
        </p:txBody>
      </p:sp>
      <p:sp>
        <p:nvSpPr>
          <p:cNvPr id="4" name="Shape 2"/>
          <p:cNvSpPr/>
          <p:nvPr/>
        </p:nvSpPr>
        <p:spPr>
          <a:xfrm>
            <a:off x="990600" y="1219200"/>
            <a:ext cx="2540000" cy="0"/>
          </a:xfrm>
          <a:prstGeom prst="straightConnector1">
            <a:avLst/>
          </a:prstGeom>
          <a:noFill/>
          <a:ln w="25400">
            <a:solidFill>
              <a:srgbClr val="B7410E"/>
            </a:solidFill>
            <a:prstDash val="solid"/>
            <a:headEnd type="none"/>
            <a:tailEnd type="none"/>
          </a:ln>
        </p:spPr>
      </p:sp>
      <p:sp>
        <p:nvSpPr>
          <p:cNvPr id="5" name="Text 3"/>
          <p:cNvSpPr/>
          <p:nvPr/>
        </p:nvSpPr>
        <p:spPr>
          <a:xfrm>
            <a:off x="990600" y="1524000"/>
            <a:ext cx="14274800" cy="2222500"/>
          </a:xfrm>
          <a:prstGeom prst="rect">
            <a:avLst/>
          </a:prstGeom>
          <a:noFill/>
          <a:ln/>
        </p:spPr>
        <p:txBody>
          <a:bodyPr wrap="square" lIns="0" tIns="0" rIns="0" bIns="0" rtlCol="0" anchor="t"/>
          <a:lstStyle/>
          <a:p>
            <a:pPr algn="l">
              <a:lnSpc>
                <a:spcPct val="180000"/>
              </a:lnSpc>
            </a:pPr>
            <a:r>
              <a:rPr lang="en-US" sz="2000" dirty="0">
                <a:solidFill>
                  <a:srgbClr val="2C1810"/>
                </a:solidFill>
                <a:latin typeface="MiSans" pitchFamily="34" charset="0"/>
                <a:ea typeface="MiSans" pitchFamily="34" charset="-122"/>
                <a:cs typeface="MiSans" pitchFamily="34" charset="-120"/>
              </a:rPr>
              <a:t>विविधतामा एकता भन्नाले विभिन्न जाति, धर्म, भाषा, संस्कृति र परम्पराहरू बीचको सामूहिक सद्भाव र एकतापूर्ण सहअस्तित्वलाई बुझिन्छ। यो अवधारणाले भिन्नताहरूलाई शक्तिको रूपमा स्वीकार गर्दै एउटै राष्ट्रिय पहिचानमा गर्व गर्न सिकाउँछ। नेपाल जस्तो बहुजातीय, बहुभाषिक र बहुसांस्कृतिक देशका लागि यो अवधारणा अत्यन्तै महत्त्वपूर्ण छ।</a:t>
            </a:r>
            <a:endParaRPr lang="en-US" sz="2000" dirty="0"/>
          </a:p>
        </p:txBody>
      </p:sp>
      <p:sp>
        <p:nvSpPr>
          <p:cNvPr id="6" name="Text 4"/>
          <p:cNvSpPr/>
          <p:nvPr/>
        </p:nvSpPr>
        <p:spPr>
          <a:xfrm>
            <a:off x="990600" y="3937000"/>
            <a:ext cx="14274800" cy="1778000"/>
          </a:xfrm>
          <a:prstGeom prst="rect">
            <a:avLst/>
          </a:prstGeom>
          <a:noFill/>
          <a:ln/>
        </p:spPr>
        <p:txBody>
          <a:bodyPr wrap="square" lIns="0" tIns="0" rIns="0" bIns="0" rtlCol="0" anchor="t"/>
          <a:lstStyle/>
          <a:p>
            <a:pPr algn="l">
              <a:lnSpc>
                <a:spcPct val="180000"/>
              </a:lnSpc>
            </a:pPr>
            <a:r>
              <a:rPr lang="en-US" sz="2000" dirty="0">
                <a:solidFill>
                  <a:srgbClr val="2C1810"/>
                </a:solidFill>
                <a:latin typeface="MiSans" pitchFamily="34" charset="0"/>
                <a:ea typeface="MiSans" pitchFamily="34" charset="-122"/>
                <a:cs typeface="MiSans" pitchFamily="34" charset="-120"/>
              </a:rPr>
              <a:t>हाम्रो विविधता नै हाम्रो पहिचान हो र यसै पहिचानमा एकता नै नेपाली राष्ट्रियताको मूल आधार हो। नेपालमा शताब्दीयौंदेखि विभिन्न जातजाति, भाषा र संस्कृतिहरू एकै ठाउँमा बसोबास गर्दै आएका छन्। यस साझा बसोबासले नेपाललाई विश्वमा नै अनुकरणीय सांस्कृतिक सहअस्तित्वको उदाहरण बनाएको छ।</a:t>
            </a:r>
            <a:endParaRPr lang="en-US" sz="2000" dirty="0"/>
          </a:p>
        </p:txBody>
      </p:sp>
      <p:sp>
        <p:nvSpPr>
          <p:cNvPr id="7" name="Shape 5"/>
          <p:cNvSpPr/>
          <p:nvPr/>
        </p:nvSpPr>
        <p:spPr>
          <a:xfrm>
            <a:off x="990600" y="5905500"/>
            <a:ext cx="14274800" cy="1841500"/>
          </a:xfrm>
          <a:prstGeom prst="rect">
            <a:avLst/>
          </a:prstGeom>
          <a:solidFill>
            <a:srgbClr val="B7410E">
              <a:alpha val="6275"/>
            </a:srgbClr>
          </a:solidFill>
          <a:ln/>
        </p:spPr>
      </p:sp>
      <p:sp>
        <p:nvSpPr>
          <p:cNvPr id="8" name="Shape 6"/>
          <p:cNvSpPr/>
          <p:nvPr/>
        </p:nvSpPr>
        <p:spPr>
          <a:xfrm>
            <a:off x="990600" y="5905500"/>
            <a:ext cx="63500" cy="1841500"/>
          </a:xfrm>
          <a:prstGeom prst="rect">
            <a:avLst/>
          </a:prstGeom>
          <a:solidFill>
            <a:srgbClr val="B7410E"/>
          </a:solidFill>
          <a:ln/>
        </p:spPr>
      </p:sp>
      <p:sp>
        <p:nvSpPr>
          <p:cNvPr id="9" name="Text 7"/>
          <p:cNvSpPr/>
          <p:nvPr/>
        </p:nvSpPr>
        <p:spPr>
          <a:xfrm>
            <a:off x="1270000" y="6032500"/>
            <a:ext cx="13716000" cy="1587500"/>
          </a:xfrm>
          <a:prstGeom prst="rect">
            <a:avLst/>
          </a:prstGeom>
          <a:noFill/>
          <a:ln/>
        </p:spPr>
        <p:txBody>
          <a:bodyPr wrap="square" lIns="0" tIns="0" rIns="0" bIns="0" rtlCol="0" anchor="ctr"/>
          <a:lstStyle/>
          <a:p>
            <a:pPr algn="l">
              <a:lnSpc>
                <a:spcPct val="170000"/>
              </a:lnSpc>
            </a:pPr>
            <a:r>
              <a:rPr lang="en-US" sz="2000" i="1" dirty="0">
                <a:solidFill>
                  <a:srgbClr val="2C1810"/>
                </a:solidFill>
                <a:latin typeface="思源宋体" pitchFamily="34" charset="0"/>
                <a:ea typeface="思源宋体" pitchFamily="34" charset="-122"/>
                <a:cs typeface="思源宋体" pitchFamily="34" charset="-120"/>
              </a:rPr>
              <a:t>"नेपाल एक गार्डेन हो जहाँ विभिन्न फूलहरू फुल्छन् — हामी फरक रङका छौं, फरक सुगन्धका छौं, तर एउटै बगैंचाका हौं। विविधता नै हाम्रो शक्ति हो र एकता नै हाम्रो गौरव।"</a:t>
            </a:r>
            <a:endParaRPr lang="en-US" sz="2000" dirty="0"/>
          </a:p>
        </p:txBody>
      </p:sp>
      <p:sp>
        <p:nvSpPr>
          <p:cNvPr id="10" name="Text 8"/>
          <p:cNvSpPr/>
          <p:nvPr/>
        </p:nvSpPr>
        <p:spPr>
          <a:xfrm>
            <a:off x="990600" y="7747000"/>
            <a:ext cx="4445000" cy="863600"/>
          </a:xfrm>
          <a:prstGeom prst="rect">
            <a:avLst/>
          </a:prstGeom>
          <a:noFill/>
          <a:ln/>
        </p:spPr>
        <p:txBody>
          <a:bodyPr wrap="square" lIns="0" tIns="0" rIns="0" bIns="0" rtlCol="0" anchor="t"/>
          <a:lstStyle/>
          <a:p>
            <a:pPr algn="l">
              <a:lnSpc>
                <a:spcPct val="160000"/>
              </a:lnSpc>
            </a:pPr>
            <a:r>
              <a:rPr lang="en-US" sz="1800" b="1" dirty="0">
                <a:solidFill>
                  <a:srgbClr val="B7410E"/>
                </a:solidFill>
                <a:latin typeface="MiSans" pitchFamily="34" charset="0"/>
                <a:ea typeface="MiSans" pitchFamily="34" charset="-122"/>
                <a:cs typeface="MiSans" pitchFamily="34" charset="-120"/>
              </a:rPr>
              <a:t>१२५+</a:t>
            </a:r>
            <a:pPr algn="l">
              <a:lnSpc>
                <a:spcPct val="160000"/>
              </a:lnSpc>
            </a:pPr>
            <a:r>
              <a:rPr lang="en-US" sz="1800" dirty="0">
                <a:solidFill>
                  <a:srgbClr val="2C1810"/>
                </a:solidFill>
                <a:latin typeface="MiSans" pitchFamily="34" charset="0"/>
                <a:ea typeface="MiSans" pitchFamily="34" charset="-122"/>
                <a:cs typeface="MiSans" pitchFamily="34" charset="-120"/>
              </a:rPr>
              <a:t> जातजातिहरूको बसोबास</a:t>
            </a:r>
            <a:endParaRPr lang="en-US" sz="1800" dirty="0"/>
          </a:p>
          <a:p>
            <a:pPr algn="l">
              <a:lnSpc>
                <a:spcPct val="160000"/>
              </a:lnSpc>
            </a:pPr>
            <a:r>
              <a:rPr lang="en-US" sz="1800" b="1" dirty="0">
                <a:solidFill>
                  <a:srgbClr val="B7410E"/>
                </a:solidFill>
                <a:latin typeface="MiSans" pitchFamily="34" charset="0"/>
                <a:ea typeface="MiSans" pitchFamily="34" charset="-122"/>
                <a:cs typeface="MiSans" pitchFamily="34" charset="-120"/>
              </a:rPr>
              <a:t>१२३+</a:t>
            </a:r>
            <a:pPr algn="l">
              <a:lnSpc>
                <a:spcPct val="160000"/>
              </a:lnSpc>
            </a:pPr>
            <a:r>
              <a:rPr lang="en-US" sz="1800" dirty="0">
                <a:solidFill>
                  <a:srgbClr val="2C1810"/>
                </a:solidFill>
                <a:latin typeface="MiSans" pitchFamily="34" charset="0"/>
                <a:ea typeface="MiSans" pitchFamily="34" charset="-122"/>
                <a:cs typeface="MiSans" pitchFamily="34" charset="-120"/>
              </a:rPr>
              <a:t> भाषाहरूको प्रयोग</a:t>
            </a:r>
            <a:endParaRPr lang="en-US" sz="1800" dirty="0"/>
          </a:p>
        </p:txBody>
      </p:sp>
      <p:sp>
        <p:nvSpPr>
          <p:cNvPr id="11" name="Text 9"/>
          <p:cNvSpPr/>
          <p:nvPr/>
        </p:nvSpPr>
        <p:spPr>
          <a:xfrm>
            <a:off x="5905500" y="7747000"/>
            <a:ext cx="4445000" cy="863600"/>
          </a:xfrm>
          <a:prstGeom prst="rect">
            <a:avLst/>
          </a:prstGeom>
          <a:noFill/>
          <a:ln/>
        </p:spPr>
        <p:txBody>
          <a:bodyPr wrap="square" lIns="0" tIns="0" rIns="0" bIns="0" rtlCol="0" anchor="t"/>
          <a:lstStyle/>
          <a:p>
            <a:pPr algn="l">
              <a:lnSpc>
                <a:spcPct val="160000"/>
              </a:lnSpc>
            </a:pPr>
            <a:r>
              <a:rPr lang="en-US" sz="1800" b="1" dirty="0">
                <a:solidFill>
                  <a:srgbClr val="B7410E"/>
                </a:solidFill>
                <a:latin typeface="MiSans" pitchFamily="34" charset="0"/>
                <a:ea typeface="MiSans" pitchFamily="34" charset="-122"/>
                <a:cs typeface="MiSans" pitchFamily="34" charset="-120"/>
              </a:rPr>
              <a:t>१०+</a:t>
            </a:r>
            <a:pPr algn="l">
              <a:lnSpc>
                <a:spcPct val="160000"/>
              </a:lnSpc>
            </a:pPr>
            <a:r>
              <a:rPr lang="en-US" sz="1800" dirty="0">
                <a:solidFill>
                  <a:srgbClr val="2C1810"/>
                </a:solidFill>
                <a:latin typeface="MiSans" pitchFamily="34" charset="0"/>
                <a:ea typeface="MiSans" pitchFamily="34" charset="-122"/>
                <a:cs typeface="MiSans" pitchFamily="34" charset="-120"/>
              </a:rPr>
              <a:t> धर्महरूको सहअस्तित्व</a:t>
            </a:r>
            <a:endParaRPr lang="en-US" sz="1800" dirty="0"/>
          </a:p>
          <a:p>
            <a:pPr algn="l">
              <a:lnSpc>
                <a:spcPct val="160000"/>
              </a:lnSpc>
            </a:pPr>
            <a:r>
              <a:rPr lang="en-US" sz="1800" b="1" dirty="0">
                <a:solidFill>
                  <a:srgbClr val="B7410E"/>
                </a:solidFill>
                <a:latin typeface="MiSans" pitchFamily="34" charset="0"/>
                <a:ea typeface="MiSans" pitchFamily="34" charset="-122"/>
                <a:cs typeface="MiSans" pitchFamily="34" charset="-120"/>
              </a:rPr>
              <a:t>३</a:t>
            </a:r>
            <a:pPr algn="l">
              <a:lnSpc>
                <a:spcPct val="160000"/>
              </a:lnSpc>
            </a:pPr>
            <a:r>
              <a:rPr lang="en-US" sz="1800" dirty="0">
                <a:solidFill>
                  <a:srgbClr val="2C1810"/>
                </a:solidFill>
                <a:latin typeface="MiSans" pitchFamily="34" charset="0"/>
                <a:ea typeface="MiSans" pitchFamily="34" charset="-122"/>
                <a:cs typeface="MiSans" pitchFamily="34" charset="-120"/>
              </a:rPr>
              <a:t> भौगोलिक क्षेत्रहरू</a:t>
            </a:r>
            <a:endParaRPr lang="en-US" sz="1800" dirty="0"/>
          </a:p>
        </p:txBody>
      </p:sp>
      <p:sp>
        <p:nvSpPr>
          <p:cNvPr id="12" name="Text 10"/>
          <p:cNvSpPr/>
          <p:nvPr/>
        </p:nvSpPr>
        <p:spPr>
          <a:xfrm>
            <a:off x="10820400" y="7747000"/>
            <a:ext cx="4445000" cy="863600"/>
          </a:xfrm>
          <a:prstGeom prst="rect">
            <a:avLst/>
          </a:prstGeom>
          <a:noFill/>
          <a:ln/>
        </p:spPr>
        <p:txBody>
          <a:bodyPr wrap="square" lIns="0" tIns="0" rIns="0" bIns="0" rtlCol="0" anchor="t"/>
          <a:lstStyle/>
          <a:p>
            <a:pPr algn="l">
              <a:lnSpc>
                <a:spcPct val="160000"/>
              </a:lnSpc>
            </a:pPr>
            <a:r>
              <a:rPr lang="en-US" sz="1800" b="1" dirty="0">
                <a:solidFill>
                  <a:srgbClr val="B7410E"/>
                </a:solidFill>
                <a:latin typeface="MiSans" pitchFamily="34" charset="0"/>
                <a:ea typeface="MiSans" pitchFamily="34" charset="-122"/>
                <a:cs typeface="MiSans" pitchFamily="34" charset="-120"/>
              </a:rPr>
              <a:t>१४२</a:t>
            </a:r>
            <a:pPr algn="l">
              <a:lnSpc>
                <a:spcPct val="160000"/>
              </a:lnSpc>
            </a:pPr>
            <a:r>
              <a:rPr lang="en-US" sz="1800" dirty="0">
                <a:solidFill>
                  <a:srgbClr val="2C1810"/>
                </a:solidFill>
                <a:latin typeface="MiSans" pitchFamily="34" charset="0"/>
                <a:ea typeface="MiSans" pitchFamily="34" charset="-122"/>
                <a:cs typeface="MiSans" pitchFamily="34" charset="-120"/>
              </a:rPr>
              <a:t> वटा जातीय समूह</a:t>
            </a:r>
            <a:endParaRPr lang="en-US" sz="1800" dirty="0"/>
          </a:p>
          <a:p>
            <a:pPr algn="l">
              <a:lnSpc>
                <a:spcPct val="160000"/>
              </a:lnSpc>
            </a:pPr>
            <a:r>
              <a:rPr lang="en-US" sz="1800" b="1" dirty="0">
                <a:solidFill>
                  <a:srgbClr val="B7410E"/>
                </a:solidFill>
                <a:latin typeface="MiSans" pitchFamily="34" charset="0"/>
                <a:ea typeface="MiSans" pitchFamily="34" charset="-122"/>
                <a:cs typeface="MiSans" pitchFamily="34" charset="-120"/>
              </a:rPr>
              <a:t>७</a:t>
            </a:r>
            <a:pPr algn="l">
              <a:lnSpc>
                <a:spcPct val="160000"/>
              </a:lnSpc>
            </a:pPr>
            <a:r>
              <a:rPr lang="en-US" sz="1800" dirty="0">
                <a:solidFill>
                  <a:srgbClr val="2C1810"/>
                </a:solidFill>
                <a:latin typeface="MiSans" pitchFamily="34" charset="0"/>
                <a:ea typeface="MiSans" pitchFamily="34" charset="-122"/>
                <a:cs typeface="MiSans" pitchFamily="34" charset="-120"/>
              </a:rPr>
              <a:t> प्रदेशहरू</a:t>
            </a:r>
            <a:endParaRPr lang="en-US" sz="1800" dirty="0"/>
          </a:p>
        </p:txBody>
      </p:sp>
      <p:sp>
        <p:nvSpPr>
          <p:cNvPr id="13" name="Shape 11"/>
          <p:cNvSpPr/>
          <p:nvPr/>
        </p:nvSpPr>
        <p:spPr>
          <a:xfrm>
            <a:off x="762000" y="8763000"/>
            <a:ext cx="14732000" cy="0"/>
          </a:xfrm>
          <a:prstGeom prst="straightConnector1">
            <a:avLst/>
          </a:prstGeom>
          <a:noFill/>
          <a:ln w="12700">
            <a:solidFill>
              <a:srgbClr val="E8DFD0"/>
            </a:solidFill>
            <a:prstDash val="solid"/>
            <a:headEnd type="none"/>
            <a:tailEnd type="none"/>
          </a:ln>
        </p:spPr>
      </p:sp>
      <p:sp>
        <p:nvSpPr>
          <p:cNvPr id="14" name="Text 12"/>
          <p:cNvSpPr/>
          <p:nvPr/>
        </p:nvSpPr>
        <p:spPr>
          <a:xfrm>
            <a:off x="14732000" y="8826500"/>
            <a:ext cx="762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MiSans" pitchFamily="34" charset="0"/>
                <a:ea typeface="MiSans" pitchFamily="34" charset="-122"/>
                <a:cs typeface="MiSans" pitchFamily="34" charset="-120"/>
              </a:rPr>
              <a:t>४</a:t>
            </a:r>
            <a:endParaRPr lang="en-US" sz="14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762000" y="660400"/>
            <a:ext cx="63500" cy="457200"/>
          </a:xfrm>
          <a:prstGeom prst="rect">
            <a:avLst/>
          </a:prstGeom>
          <a:solidFill>
            <a:srgbClr val="B7410E"/>
          </a:solidFill>
          <a:ln/>
        </p:spPr>
      </p:sp>
      <p:sp>
        <p:nvSpPr>
          <p:cNvPr id="3" name="Text 1"/>
          <p:cNvSpPr/>
          <p:nvPr/>
        </p:nvSpPr>
        <p:spPr>
          <a:xfrm>
            <a:off x="990600" y="609600"/>
            <a:ext cx="13970000" cy="558800"/>
          </a:xfrm>
          <a:prstGeom prst="rect">
            <a:avLst/>
          </a:prstGeom>
          <a:noFill/>
          <a:ln/>
        </p:spPr>
        <p:txBody>
          <a:bodyPr wrap="none" lIns="0" tIns="0" rIns="0" bIns="0" rtlCol="0" anchor="ctr"/>
          <a:lstStyle/>
          <a:p>
            <a:pPr algn="l">
              <a:lnSpc>
                <a:spcPct val="130000"/>
              </a:lnSpc>
            </a:pPr>
            <a:r>
              <a:rPr lang="en-US" sz="3000" b="1" dirty="0">
                <a:solidFill>
                  <a:srgbClr val="2C1810"/>
                </a:solidFill>
                <a:latin typeface="思源宋体" pitchFamily="34" charset="0"/>
                <a:ea typeface="思源宋体" pitchFamily="34" charset="-122"/>
                <a:cs typeface="思源宋体" pitchFamily="34" charset="-120"/>
              </a:rPr>
              <a:t>नेपालको भौगोलिक र प्राकृतिक विविधता</a:t>
            </a:r>
            <a:endParaRPr lang="en-US" sz="3000" dirty="0"/>
          </a:p>
        </p:txBody>
      </p:sp>
      <p:sp>
        <p:nvSpPr>
          <p:cNvPr id="4" name="Shape 2"/>
          <p:cNvSpPr/>
          <p:nvPr/>
        </p:nvSpPr>
        <p:spPr>
          <a:xfrm>
            <a:off x="990600" y="1219200"/>
            <a:ext cx="2540000" cy="0"/>
          </a:xfrm>
          <a:prstGeom prst="straightConnector1">
            <a:avLst/>
          </a:prstGeom>
          <a:noFill/>
          <a:ln w="25400">
            <a:solidFill>
              <a:srgbClr val="B7410E"/>
            </a:solidFill>
            <a:prstDash val="solid"/>
            <a:headEnd type="none"/>
            <a:tailEnd type="none"/>
          </a:ln>
        </p:spPr>
      </p:sp>
      <p:sp>
        <p:nvSpPr>
          <p:cNvPr id="5" name="Text 3"/>
          <p:cNvSpPr/>
          <p:nvPr/>
        </p:nvSpPr>
        <p:spPr>
          <a:xfrm>
            <a:off x="990600" y="1498600"/>
            <a:ext cx="8890000" cy="3556000"/>
          </a:xfrm>
          <a:prstGeom prst="rect">
            <a:avLst/>
          </a:prstGeom>
          <a:noFill/>
          <a:ln/>
        </p:spPr>
        <p:txBody>
          <a:bodyPr wrap="square" lIns="0" tIns="0" rIns="0" bIns="0" rtlCol="0" anchor="t"/>
          <a:lstStyle/>
          <a:p>
            <a:pPr algn="l">
              <a:lnSpc>
                <a:spcPct val="175000"/>
              </a:lnSpc>
            </a:pPr>
            <a:r>
              <a:rPr lang="en-US" sz="1900" dirty="0">
                <a:solidFill>
                  <a:srgbClr val="2C1810"/>
                </a:solidFill>
                <a:latin typeface="MiSans" pitchFamily="34" charset="0"/>
                <a:ea typeface="MiSans" pitchFamily="34" charset="-122"/>
                <a:cs typeface="MiSans" pitchFamily="34" charset="-120"/>
              </a:rPr>
              <a:t>नेपाल विश्वकै उच्चतम भौगोलिक विविधता भएका देशहरू मध्ये एक हो। तराईको समतल भूमि देखि हिमालयको विश्वको सर्वोच्च शिखर सगरमाथासम्म, नेपालको भूगोलले अत्यन्तै विविध प्राकृतिक परिवेश समेटेको छ। नेपाललाई तीन मुख्य भौगोलिक क्षेत्रमा विभाजन गरिएको छ। यस भौगोलिक विविधताले विभिन्न जलवायु, वनस्पति, जनावर र मानव बस्तीको विकास गरेको छ। नेपाल विश्वका १० उच्च हिमशिखरहरू मध्ये ८ वटा आफ्नो भूभागमा राख्ने गौरवमय देश हो।</a:t>
            </a:r>
            <a:endParaRPr lang="en-US" sz="1900" dirty="0"/>
          </a:p>
        </p:txBody>
      </p:sp>
      <p:sp>
        <p:nvSpPr>
          <p:cNvPr id="6" name="Shape 4"/>
          <p:cNvSpPr/>
          <p:nvPr/>
        </p:nvSpPr>
        <p:spPr>
          <a:xfrm>
            <a:off x="10287000" y="1498600"/>
            <a:ext cx="4978400" cy="1270000"/>
          </a:xfrm>
          <a:prstGeom prst="rect">
            <a:avLst/>
          </a:prstGeom>
          <a:solidFill>
            <a:srgbClr val="FFFFFF"/>
          </a:solidFill>
          <a:ln w="12700">
            <a:solidFill>
              <a:srgbClr val="E8DFD0"/>
            </a:solidFill>
            <a:prstDash val="solid"/>
          </a:ln>
        </p:spPr>
      </p:sp>
      <p:sp>
        <p:nvSpPr>
          <p:cNvPr id="7" name="Shape 5"/>
          <p:cNvSpPr/>
          <p:nvPr/>
        </p:nvSpPr>
        <p:spPr>
          <a:xfrm>
            <a:off x="10287000" y="1498600"/>
            <a:ext cx="63500" cy="1270000"/>
          </a:xfrm>
          <a:prstGeom prst="rect">
            <a:avLst/>
          </a:prstGeom>
          <a:solidFill>
            <a:srgbClr val="B7410E"/>
          </a:solidFill>
          <a:ln/>
        </p:spPr>
      </p:sp>
      <p:sp>
        <p:nvSpPr>
          <p:cNvPr id="8" name="Text 6"/>
          <p:cNvSpPr/>
          <p:nvPr/>
        </p:nvSpPr>
        <p:spPr>
          <a:xfrm>
            <a:off x="10541000" y="1549400"/>
            <a:ext cx="4572000" cy="355600"/>
          </a:xfrm>
          <a:prstGeom prst="rect">
            <a:avLst/>
          </a:prstGeom>
          <a:noFill/>
          <a:ln/>
        </p:spPr>
        <p:txBody>
          <a:bodyPr wrap="none" lIns="0" tIns="0" rIns="0" bIns="0" rtlCol="0" anchor="ctr"/>
          <a:lstStyle/>
          <a:p>
            <a:pPr algn="l">
              <a:lnSpc>
                <a:spcPct val="120000"/>
              </a:lnSpc>
            </a:pPr>
            <a:r>
              <a:rPr lang="en-US" sz="2000" b="1" dirty="0">
                <a:solidFill>
                  <a:srgbClr val="B7410E"/>
                </a:solidFill>
                <a:latin typeface="思源宋体" pitchFamily="34" charset="0"/>
                <a:ea typeface="思源宋体" pitchFamily="34" charset="-122"/>
                <a:cs typeface="思源宋体" pitchFamily="34" charset="-120"/>
              </a:rPr>
              <a:t>तराई मैदान</a:t>
            </a:r>
            <a:endParaRPr lang="en-US" sz="2000" dirty="0"/>
          </a:p>
        </p:txBody>
      </p:sp>
      <p:sp>
        <p:nvSpPr>
          <p:cNvPr id="9" name="Text 7"/>
          <p:cNvSpPr/>
          <p:nvPr/>
        </p:nvSpPr>
        <p:spPr>
          <a:xfrm>
            <a:off x="10541000" y="1930400"/>
            <a:ext cx="4572000" cy="762000"/>
          </a:xfrm>
          <a:prstGeom prst="rect">
            <a:avLst/>
          </a:prstGeom>
          <a:noFill/>
          <a:ln/>
        </p:spPr>
        <p:txBody>
          <a:bodyPr wrap="square" lIns="0" tIns="0" rIns="0" bIns="0" rtlCol="0" anchor="t"/>
          <a:lstStyle/>
          <a:p>
            <a:pPr algn="l">
              <a:lnSpc>
                <a:spcPct val="150000"/>
              </a:lnSpc>
            </a:pPr>
            <a:r>
              <a:rPr lang="en-US" sz="1600" dirty="0">
                <a:solidFill>
                  <a:srgbClr val="2C1810"/>
                </a:solidFill>
                <a:latin typeface="MiSans" pitchFamily="34" charset="0"/>
                <a:ea typeface="MiSans" pitchFamily="34" charset="-122"/>
                <a:cs typeface="MiSans" pitchFamily="34" charset="-120"/>
              </a:rPr>
              <a:t>उचाइ: ६७—३०० मिटर</a:t>
            </a:r>
            <a:endParaRPr lang="en-US" sz="1600" dirty="0"/>
          </a:p>
          <a:p>
            <a:pPr algn="l">
              <a:lnSpc>
                <a:spcPct val="150000"/>
              </a:lnSpc>
            </a:pPr>
            <a:r>
              <a:rPr lang="en-US" sz="1600" dirty="0">
                <a:solidFill>
                  <a:srgbClr val="2C1810"/>
                </a:solidFill>
                <a:latin typeface="MiSans" pitchFamily="34" charset="0"/>
                <a:ea typeface="MiSans" pitchFamily="34" charset="-122"/>
                <a:cs typeface="MiSans" pitchFamily="34" charset="-120"/>
              </a:rPr>
              <a:t>उष्णकटिबन्धीय जलवायु, उपजाऊ भूमि</a:t>
            </a:r>
            <a:endParaRPr lang="en-US" sz="1600" dirty="0"/>
          </a:p>
        </p:txBody>
      </p:sp>
      <p:sp>
        <p:nvSpPr>
          <p:cNvPr id="10" name="Shape 8"/>
          <p:cNvSpPr/>
          <p:nvPr/>
        </p:nvSpPr>
        <p:spPr>
          <a:xfrm>
            <a:off x="10287000" y="2959100"/>
            <a:ext cx="4978400" cy="1270000"/>
          </a:xfrm>
          <a:prstGeom prst="rect">
            <a:avLst/>
          </a:prstGeom>
          <a:solidFill>
            <a:srgbClr val="FFFFFF"/>
          </a:solidFill>
          <a:ln w="12700">
            <a:solidFill>
              <a:srgbClr val="E8DFD0"/>
            </a:solidFill>
            <a:prstDash val="solid"/>
          </a:ln>
        </p:spPr>
      </p:sp>
      <p:sp>
        <p:nvSpPr>
          <p:cNvPr id="11" name="Shape 9"/>
          <p:cNvSpPr/>
          <p:nvPr/>
        </p:nvSpPr>
        <p:spPr>
          <a:xfrm>
            <a:off x="10287000" y="2959100"/>
            <a:ext cx="63500" cy="1270000"/>
          </a:xfrm>
          <a:prstGeom prst="rect">
            <a:avLst/>
          </a:prstGeom>
          <a:solidFill>
            <a:srgbClr val="8B7355"/>
          </a:solidFill>
          <a:ln/>
        </p:spPr>
      </p:sp>
      <p:sp>
        <p:nvSpPr>
          <p:cNvPr id="12" name="Text 10"/>
          <p:cNvSpPr/>
          <p:nvPr/>
        </p:nvSpPr>
        <p:spPr>
          <a:xfrm>
            <a:off x="10541000" y="3009900"/>
            <a:ext cx="4572000" cy="355600"/>
          </a:xfrm>
          <a:prstGeom prst="rect">
            <a:avLst/>
          </a:prstGeom>
          <a:noFill/>
          <a:ln/>
        </p:spPr>
        <p:txBody>
          <a:bodyPr wrap="none" lIns="0" tIns="0" rIns="0" bIns="0" rtlCol="0" anchor="ctr"/>
          <a:lstStyle/>
          <a:p>
            <a:pPr algn="l">
              <a:lnSpc>
                <a:spcPct val="120000"/>
              </a:lnSpc>
            </a:pPr>
            <a:r>
              <a:rPr lang="en-US" sz="2000" b="1" dirty="0">
                <a:solidFill>
                  <a:srgbClr val="8B7355"/>
                </a:solidFill>
                <a:latin typeface="思源宋体" pitchFamily="34" charset="0"/>
                <a:ea typeface="思源宋体" pitchFamily="34" charset="-122"/>
                <a:cs typeface="思源宋体" pitchFamily="34" charset="-120"/>
              </a:rPr>
              <a:t>पहाडी क्षेत्र</a:t>
            </a:r>
            <a:endParaRPr lang="en-US" sz="2000" dirty="0"/>
          </a:p>
        </p:txBody>
      </p:sp>
      <p:sp>
        <p:nvSpPr>
          <p:cNvPr id="13" name="Text 11"/>
          <p:cNvSpPr/>
          <p:nvPr/>
        </p:nvSpPr>
        <p:spPr>
          <a:xfrm>
            <a:off x="10541000" y="3390900"/>
            <a:ext cx="4572000" cy="762000"/>
          </a:xfrm>
          <a:prstGeom prst="rect">
            <a:avLst/>
          </a:prstGeom>
          <a:noFill/>
          <a:ln/>
        </p:spPr>
        <p:txBody>
          <a:bodyPr wrap="square" lIns="0" tIns="0" rIns="0" bIns="0" rtlCol="0" anchor="t"/>
          <a:lstStyle/>
          <a:p>
            <a:pPr algn="l">
              <a:lnSpc>
                <a:spcPct val="150000"/>
              </a:lnSpc>
            </a:pPr>
            <a:r>
              <a:rPr lang="en-US" sz="1600" dirty="0">
                <a:solidFill>
                  <a:srgbClr val="2C1810"/>
                </a:solidFill>
                <a:latin typeface="MiSans" pitchFamily="34" charset="0"/>
                <a:ea typeface="MiSans" pitchFamily="34" charset="-122"/>
                <a:cs typeface="MiSans" pitchFamily="34" charset="-120"/>
              </a:rPr>
              <a:t>उचाइ: ३००—३००० मिटर</a:t>
            </a:r>
            <a:endParaRPr lang="en-US" sz="1600" dirty="0"/>
          </a:p>
          <a:p>
            <a:pPr algn="l">
              <a:lnSpc>
                <a:spcPct val="150000"/>
              </a:lnSpc>
            </a:pPr>
            <a:r>
              <a:rPr lang="en-US" sz="1600" dirty="0">
                <a:solidFill>
                  <a:srgbClr val="2C1810"/>
                </a:solidFill>
                <a:latin typeface="MiSans" pitchFamily="34" charset="0"/>
                <a:ea typeface="MiSans" pitchFamily="34" charset="-122"/>
                <a:cs typeface="MiSans" pitchFamily="34" charset="-120"/>
              </a:rPr>
              <a:t>समशीतोष्ण जलवायु, उपत्यकाहरू</a:t>
            </a:r>
            <a:endParaRPr lang="en-US" sz="1600" dirty="0"/>
          </a:p>
        </p:txBody>
      </p:sp>
      <p:sp>
        <p:nvSpPr>
          <p:cNvPr id="14" name="Shape 12"/>
          <p:cNvSpPr/>
          <p:nvPr/>
        </p:nvSpPr>
        <p:spPr>
          <a:xfrm>
            <a:off x="10287000" y="4419600"/>
            <a:ext cx="4978400" cy="1270000"/>
          </a:xfrm>
          <a:prstGeom prst="rect">
            <a:avLst/>
          </a:prstGeom>
          <a:solidFill>
            <a:srgbClr val="FFFFFF"/>
          </a:solidFill>
          <a:ln w="12700">
            <a:solidFill>
              <a:srgbClr val="E8DFD0"/>
            </a:solidFill>
            <a:prstDash val="solid"/>
          </a:ln>
        </p:spPr>
      </p:sp>
      <p:sp>
        <p:nvSpPr>
          <p:cNvPr id="15" name="Shape 13"/>
          <p:cNvSpPr/>
          <p:nvPr/>
        </p:nvSpPr>
        <p:spPr>
          <a:xfrm>
            <a:off x="10287000" y="4419600"/>
            <a:ext cx="63500" cy="1270000"/>
          </a:xfrm>
          <a:prstGeom prst="rect">
            <a:avLst/>
          </a:prstGeom>
          <a:solidFill>
            <a:srgbClr val="5A4A3A"/>
          </a:solidFill>
          <a:ln/>
        </p:spPr>
      </p:sp>
      <p:sp>
        <p:nvSpPr>
          <p:cNvPr id="16" name="Text 14"/>
          <p:cNvSpPr/>
          <p:nvPr/>
        </p:nvSpPr>
        <p:spPr>
          <a:xfrm>
            <a:off x="10541000" y="4470400"/>
            <a:ext cx="4572000" cy="355600"/>
          </a:xfrm>
          <a:prstGeom prst="rect">
            <a:avLst/>
          </a:prstGeom>
          <a:noFill/>
          <a:ln/>
        </p:spPr>
        <p:txBody>
          <a:bodyPr wrap="none" lIns="0" tIns="0" rIns="0" bIns="0" rtlCol="0" anchor="ctr"/>
          <a:lstStyle/>
          <a:p>
            <a:pPr algn="l">
              <a:lnSpc>
                <a:spcPct val="120000"/>
              </a:lnSpc>
            </a:pPr>
            <a:r>
              <a:rPr lang="en-US" sz="2000" b="1" dirty="0">
                <a:solidFill>
                  <a:srgbClr val="5A4A3A"/>
                </a:solidFill>
                <a:latin typeface="思源宋体" pitchFamily="34" charset="0"/>
                <a:ea typeface="思源宋体" pitchFamily="34" charset="-122"/>
                <a:cs typeface="思源宋体" pitchFamily="34" charset="-120"/>
              </a:rPr>
              <a:t>हिमाली क्षेत्र</a:t>
            </a:r>
            <a:endParaRPr lang="en-US" sz="2000" dirty="0"/>
          </a:p>
        </p:txBody>
      </p:sp>
      <p:sp>
        <p:nvSpPr>
          <p:cNvPr id="17" name="Text 15"/>
          <p:cNvSpPr/>
          <p:nvPr/>
        </p:nvSpPr>
        <p:spPr>
          <a:xfrm>
            <a:off x="10541000" y="4851400"/>
            <a:ext cx="4572000" cy="762000"/>
          </a:xfrm>
          <a:prstGeom prst="rect">
            <a:avLst/>
          </a:prstGeom>
          <a:noFill/>
          <a:ln/>
        </p:spPr>
        <p:txBody>
          <a:bodyPr wrap="square" lIns="0" tIns="0" rIns="0" bIns="0" rtlCol="0" anchor="t"/>
          <a:lstStyle/>
          <a:p>
            <a:pPr algn="l">
              <a:lnSpc>
                <a:spcPct val="150000"/>
              </a:lnSpc>
            </a:pPr>
            <a:r>
              <a:rPr lang="en-US" sz="1600" dirty="0">
                <a:solidFill>
                  <a:srgbClr val="2C1810"/>
                </a:solidFill>
                <a:latin typeface="MiSans" pitchFamily="34" charset="0"/>
                <a:ea typeface="MiSans" pitchFamily="34" charset="-122"/>
                <a:cs typeface="MiSans" pitchFamily="34" charset="-120"/>
              </a:rPr>
              <a:t>उचाइ: ३०००—८८४८ मिटर</a:t>
            </a:r>
            <a:endParaRPr lang="en-US" sz="1600" dirty="0"/>
          </a:p>
          <a:p>
            <a:pPr algn="l">
              <a:lnSpc>
                <a:spcPct val="150000"/>
              </a:lnSpc>
            </a:pPr>
            <a:r>
              <a:rPr lang="en-US" sz="1600" dirty="0">
                <a:solidFill>
                  <a:srgbClr val="2C1810"/>
                </a:solidFill>
                <a:latin typeface="MiSans" pitchFamily="34" charset="0"/>
                <a:ea typeface="MiSans" pitchFamily="34" charset="-122"/>
                <a:cs typeface="MiSans" pitchFamily="34" charset="-120"/>
              </a:rPr>
              <a:t>शीतोष्ण जलवायु, हिमशिखरहरू</a:t>
            </a:r>
            <a:endParaRPr lang="en-US" sz="1600" dirty="0"/>
          </a:p>
        </p:txBody>
      </p:sp>
      <p:sp>
        <p:nvSpPr>
          <p:cNvPr id="18" name="Shape 16"/>
          <p:cNvSpPr/>
          <p:nvPr/>
        </p:nvSpPr>
        <p:spPr>
          <a:xfrm>
            <a:off x="990600" y="5905500"/>
            <a:ext cx="14274800" cy="2286000"/>
          </a:xfrm>
          <a:prstGeom prst="rect">
            <a:avLst/>
          </a:prstGeom>
          <a:solidFill>
            <a:srgbClr val="B7410E">
              <a:alpha val="3137"/>
            </a:srgbClr>
          </a:solidFill>
          <a:ln/>
        </p:spPr>
      </p:sp>
      <p:sp>
        <p:nvSpPr>
          <p:cNvPr id="19" name="Text 17"/>
          <p:cNvSpPr/>
          <p:nvPr/>
        </p:nvSpPr>
        <p:spPr>
          <a:xfrm>
            <a:off x="1270000" y="6032500"/>
            <a:ext cx="13716000" cy="2032000"/>
          </a:xfrm>
          <a:prstGeom prst="rect">
            <a:avLst/>
          </a:prstGeom>
          <a:noFill/>
          <a:ln/>
        </p:spPr>
        <p:txBody>
          <a:bodyPr wrap="square" lIns="0" tIns="0" rIns="0" bIns="0" rtlCol="0" anchor="t"/>
          <a:lstStyle/>
          <a:p>
            <a:pPr algn="l">
              <a:lnSpc>
                <a:spcPct val="170000"/>
              </a:lnSpc>
            </a:pPr>
            <a:r>
              <a:rPr lang="en-US" sz="1900" dirty="0">
                <a:solidFill>
                  <a:srgbClr val="2C1810"/>
                </a:solidFill>
                <a:latin typeface="MiSans" pitchFamily="34" charset="0"/>
                <a:ea typeface="MiSans" pitchFamily="34" charset="-122"/>
                <a:cs typeface="MiSans" pitchFamily="34" charset="-120"/>
              </a:rPr>
              <a:t>नेपालको यो भौगोलिक विविधताले विभिन्न जीवनशैली, कृषि प्रणाली, आवास संस्कृति र सामाजिक संरचनाको विकास गरेको छ। तराईमा धान र गहुँको खेती, पहाडमा मकै र कोदोको खेती, र हिमालमा याकपालन र पर्यटन आधारित अर्थतन्त्र फसलको रूपमा विकास भएको छ। यसरी भौगोलिक विविधताले सांस्कृतिक विविधतालाई पनि समृद्ध बनाएको छ।</a:t>
            </a:r>
            <a:endParaRPr lang="en-US" sz="1900" dirty="0"/>
          </a:p>
        </p:txBody>
      </p:sp>
      <p:sp>
        <p:nvSpPr>
          <p:cNvPr id="20" name="Shape 18"/>
          <p:cNvSpPr/>
          <p:nvPr/>
        </p:nvSpPr>
        <p:spPr>
          <a:xfrm>
            <a:off x="762000" y="8636000"/>
            <a:ext cx="14732000" cy="0"/>
          </a:xfrm>
          <a:prstGeom prst="straightConnector1">
            <a:avLst/>
          </a:prstGeom>
          <a:noFill/>
          <a:ln w="12700">
            <a:solidFill>
              <a:srgbClr val="E8DFD0"/>
            </a:solidFill>
            <a:prstDash val="solid"/>
            <a:headEnd type="none"/>
            <a:tailEnd type="none"/>
          </a:ln>
        </p:spPr>
      </p:sp>
      <p:sp>
        <p:nvSpPr>
          <p:cNvPr id="21" name="Text 19"/>
          <p:cNvSpPr/>
          <p:nvPr/>
        </p:nvSpPr>
        <p:spPr>
          <a:xfrm>
            <a:off x="14732000" y="8699500"/>
            <a:ext cx="762000" cy="304800"/>
          </a:xfrm>
          <a:prstGeom prst="rect">
            <a:avLst/>
          </a:prstGeom>
          <a:noFill/>
          <a:ln/>
        </p:spPr>
        <p:txBody>
          <a:bodyPr wrap="none" lIns="0" tIns="0" rIns="0" bIns="0" rtlCol="0" anchor="ctr"/>
          <a:lstStyle/>
          <a:p>
            <a:pPr algn="r">
              <a:lnSpc>
                <a:spcPct val="140000"/>
              </a:lnSpc>
            </a:pPr>
            <a:r>
              <a:rPr lang="en-US" sz="1400" dirty="0">
                <a:solidFill>
                  <a:srgbClr val="8B7355"/>
                </a:solidFill>
                <a:latin typeface="MiSans" pitchFamily="34" charset="0"/>
                <a:ea typeface="MiSans" pitchFamily="34" charset="-122"/>
                <a:cs typeface="MiSans" pitchFamily="34" charset="-120"/>
              </a:rPr>
              <a:t>५</a:t>
            </a:r>
            <a:endParaRPr lang="en-US" sz="14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D2317"/>
        </a:solidFill>
      </p:bgPr>
    </p:bg>
    <p:spTree>
      <p:nvGrpSpPr>
        <p:cNvPr id="1" name=""/>
        <p:cNvGrpSpPr/>
        <p:nvPr/>
      </p:nvGrpSpPr>
      <p:grpSpPr>
        <a:xfrm>
          <a:off x="0" y="0"/>
          <a:ext cx="0" cy="0"/>
          <a:chOff x="0" y="0"/>
          <a:chExt cx="0" cy="0"/>
        </a:xfrm>
      </p:grpSpPr>
      <p:sp>
        <p:nvSpPr>
          <p:cNvPr id="2" name="Text 0"/>
          <p:cNvSpPr/>
          <p:nvPr/>
        </p:nvSpPr>
        <p:spPr>
          <a:xfrm>
            <a:off x="762000" y="2032000"/>
            <a:ext cx="3810000" cy="1270000"/>
          </a:xfrm>
          <a:prstGeom prst="rect">
            <a:avLst/>
          </a:prstGeom>
          <a:noFill/>
          <a:ln/>
        </p:spPr>
        <p:txBody>
          <a:bodyPr wrap="none" lIns="0" tIns="0" rIns="0" bIns="0" rtlCol="0" anchor="ctr"/>
          <a:lstStyle/>
          <a:p>
            <a:pPr algn="l">
              <a:lnSpc>
                <a:spcPct val="100000"/>
              </a:lnSpc>
            </a:pPr>
            <a:r>
              <a:rPr lang="en-US" sz="9600" dirty="0">
                <a:solidFill>
                  <a:srgbClr val="B7410E"/>
                </a:solidFill>
                <a:latin typeface="思源宋体" pitchFamily="34" charset="0"/>
                <a:ea typeface="思源宋体" pitchFamily="34" charset="-122"/>
                <a:cs typeface="思源宋体" pitchFamily="34" charset="-120"/>
              </a:rPr>
              <a:t>०२</a:t>
            </a:r>
            <a:endParaRPr lang="en-US" sz="9600" dirty="0"/>
          </a:p>
        </p:txBody>
      </p:sp>
      <p:sp>
        <p:nvSpPr>
          <p:cNvPr id="3" name="Text 1"/>
          <p:cNvSpPr/>
          <p:nvPr/>
        </p:nvSpPr>
        <p:spPr>
          <a:xfrm>
            <a:off x="762000" y="3556000"/>
            <a:ext cx="11176000" cy="762000"/>
          </a:xfrm>
          <a:prstGeom prst="rect">
            <a:avLst/>
          </a:prstGeom>
          <a:noFill/>
          <a:ln/>
        </p:spPr>
        <p:txBody>
          <a:bodyPr wrap="none" lIns="0" tIns="0" rIns="0" bIns="0" rtlCol="0" anchor="ctr"/>
          <a:lstStyle/>
          <a:p>
            <a:pPr algn="l">
              <a:lnSpc>
                <a:spcPct val="120000"/>
              </a:lnSpc>
            </a:pPr>
            <a:r>
              <a:rPr lang="en-US" sz="3600" b="1" dirty="0">
                <a:solidFill>
                  <a:srgbClr val="FFFFFF"/>
                </a:solidFill>
                <a:latin typeface="思源宋体" pitchFamily="34" charset="0"/>
                <a:ea typeface="思源宋体" pitchFamily="34" charset="-122"/>
                <a:cs typeface="思源宋体" pitchFamily="34" charset="-120"/>
              </a:rPr>
              <a:t>नेपालको बहुआयामिक विविधता</a:t>
            </a:r>
            <a:endParaRPr lang="en-US" sz="3600" dirty="0"/>
          </a:p>
        </p:txBody>
      </p:sp>
      <p:sp>
        <p:nvSpPr>
          <p:cNvPr id="4" name="Shape 2"/>
          <p:cNvSpPr/>
          <p:nvPr/>
        </p:nvSpPr>
        <p:spPr>
          <a:xfrm>
            <a:off x="762000" y="4470400"/>
            <a:ext cx="2032000" cy="0"/>
          </a:xfrm>
          <a:prstGeom prst="straightConnector1">
            <a:avLst/>
          </a:prstGeom>
          <a:noFill/>
          <a:ln w="38100">
            <a:solidFill>
              <a:srgbClr val="B7410E"/>
            </a:solidFill>
            <a:prstDash val="solid"/>
            <a:headEnd type="none"/>
            <a:tailEnd type="none"/>
          </a:ln>
        </p:spPr>
      </p:sp>
      <p:sp>
        <p:nvSpPr>
          <p:cNvPr id="5" name="Text 3"/>
          <p:cNvSpPr/>
          <p:nvPr/>
        </p:nvSpPr>
        <p:spPr>
          <a:xfrm>
            <a:off x="762000" y="4762500"/>
            <a:ext cx="10160000" cy="508000"/>
          </a:xfrm>
          <a:prstGeom prst="rect">
            <a:avLst/>
          </a:prstGeom>
          <a:noFill/>
          <a:ln/>
        </p:spPr>
        <p:txBody>
          <a:bodyPr wrap="none" lIns="0" tIns="0" rIns="0" bIns="0" rtlCol="0" anchor="ctr"/>
          <a:lstStyle/>
          <a:p>
            <a:pPr algn="l">
              <a:lnSpc>
                <a:spcPct val="140000"/>
              </a:lnSpc>
            </a:pPr>
            <a:r>
              <a:rPr lang="en-US" sz="2000" dirty="0">
                <a:solidFill>
                  <a:srgbClr val="E8DFD0"/>
                </a:solidFill>
                <a:latin typeface="MiSans" pitchFamily="34" charset="0"/>
                <a:ea typeface="MiSans" pitchFamily="34" charset="-122"/>
                <a:cs typeface="MiSans" pitchFamily="34" charset="-120"/>
              </a:rPr>
              <a:t>जातीय, भाषिक, धार्मिक र सांस्कृतिक विविधताको विश्लेषण</a:t>
            </a:r>
            <a:endParaRPr lang="en-US" sz="2000" dirty="0"/>
          </a:p>
        </p:txBody>
      </p:sp>
      <p:sp>
        <p:nvSpPr>
          <p:cNvPr id="6" name="Shape 4"/>
          <p:cNvSpPr/>
          <p:nvPr/>
        </p:nvSpPr>
        <p:spPr>
          <a:xfrm>
            <a:off x="12446000" y="1524000"/>
            <a:ext cx="3048000" cy="2540000"/>
          </a:xfrm>
          <a:prstGeom prst="rect">
            <a:avLst/>
          </a:prstGeom>
          <a:solidFill>
            <a:srgbClr val="B7410E">
              <a:alpha val="12549"/>
            </a:srgbClr>
          </a:solidFill>
          <a:ln/>
        </p:spPr>
      </p:sp>
      <p:sp>
        <p:nvSpPr>
          <p:cNvPr id="7" name="Shape 5"/>
          <p:cNvSpPr/>
          <p:nvPr/>
        </p:nvSpPr>
        <p:spPr>
          <a:xfrm>
            <a:off x="13335000" y="3556000"/>
            <a:ext cx="2159000" cy="2032000"/>
          </a:xfrm>
          <a:prstGeom prst="rect">
            <a:avLst/>
          </a:prstGeom>
          <a:solidFill>
            <a:srgbClr val="B7410E">
              <a:alpha val="8235"/>
            </a:srgbClr>
          </a:solidFill>
          <a:ln/>
        </p:spPr>
      </p:sp>
      <p:sp>
        <p:nvSpPr>
          <p:cNvPr id="8" name="Shape 6"/>
          <p:cNvSpPr/>
          <p:nvPr/>
        </p:nvSpPr>
        <p:spPr>
          <a:xfrm>
            <a:off x="11938000" y="1270000"/>
            <a:ext cx="0" cy="6604000"/>
          </a:xfrm>
          <a:prstGeom prst="straightConnector1">
            <a:avLst/>
          </a:prstGeom>
          <a:noFill/>
          <a:ln w="12700">
            <a:solidFill>
              <a:srgbClr val="B7410E">
                <a:alpha val="18824"/>
              </a:srgbClr>
            </a:solidFill>
            <a:prstDash val="solid"/>
            <a:headEnd type="none"/>
            <a:tailEnd type="none"/>
          </a:ln>
        </p:spPr>
      </p:sp>
      <p:sp>
        <p:nvSpPr>
          <p:cNvPr id="9" name="Shape 7"/>
          <p:cNvSpPr/>
          <p:nvPr/>
        </p:nvSpPr>
        <p:spPr>
          <a:xfrm>
            <a:off x="0" y="8890000"/>
            <a:ext cx="16256000" cy="254000"/>
          </a:xfrm>
          <a:prstGeom prst="rect">
            <a:avLst/>
          </a:prstGeom>
          <a:solidFill>
            <a:srgbClr val="B7410E"/>
          </a:solidFill>
          <a:ln/>
        </p:spPr>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762000" y="660400"/>
            <a:ext cx="63500" cy="457200"/>
          </a:xfrm>
          <a:prstGeom prst="rect">
            <a:avLst/>
          </a:prstGeom>
          <a:solidFill>
            <a:srgbClr val="B7410E"/>
          </a:solidFill>
          <a:ln/>
        </p:spPr>
      </p:sp>
      <p:sp>
        <p:nvSpPr>
          <p:cNvPr id="3" name="Text 1"/>
          <p:cNvSpPr/>
          <p:nvPr/>
        </p:nvSpPr>
        <p:spPr>
          <a:xfrm>
            <a:off x="990600" y="609600"/>
            <a:ext cx="11430000" cy="558800"/>
          </a:xfrm>
          <a:prstGeom prst="rect">
            <a:avLst/>
          </a:prstGeom>
          <a:noFill/>
          <a:ln/>
        </p:spPr>
        <p:txBody>
          <a:bodyPr wrap="none" lIns="0" tIns="0" rIns="0" bIns="0" rtlCol="0" anchor="ctr"/>
          <a:lstStyle/>
          <a:p>
            <a:pPr algn="l">
              <a:lnSpc>
                <a:spcPct val="130000"/>
              </a:lnSpc>
            </a:pPr>
            <a:r>
              <a:rPr lang="en-US" sz="3000" b="1" dirty="0">
                <a:solidFill>
                  <a:srgbClr val="2C1810"/>
                </a:solidFill>
                <a:latin typeface="思源宋体" pitchFamily="34" charset="0"/>
                <a:ea typeface="思源宋体" pitchFamily="34" charset="-122"/>
                <a:cs typeface="思源宋体" pitchFamily="34" charset="-120"/>
              </a:rPr>
              <a:t>जातीय र भाषिक विविधता</a:t>
            </a:r>
            <a:endParaRPr lang="en-US" sz="3000" dirty="0"/>
          </a:p>
        </p:txBody>
      </p:sp>
      <p:sp>
        <p:nvSpPr>
          <p:cNvPr id="4" name="Shape 2"/>
          <p:cNvSpPr/>
          <p:nvPr/>
        </p:nvSpPr>
        <p:spPr>
          <a:xfrm>
            <a:off x="990600" y="1219200"/>
            <a:ext cx="2540000" cy="0"/>
          </a:xfrm>
          <a:prstGeom prst="straightConnector1">
            <a:avLst/>
          </a:prstGeom>
          <a:noFill/>
          <a:ln w="25400">
            <a:solidFill>
              <a:srgbClr val="B7410E"/>
            </a:solidFill>
            <a:prstDash val="solid"/>
            <a:headEnd type="none"/>
            <a:tailEnd type="none"/>
          </a:ln>
        </p:spPr>
      </p:sp>
      <p:sp>
        <p:nvSpPr>
          <p:cNvPr id="5" name="Text 3"/>
          <p:cNvSpPr/>
          <p:nvPr/>
        </p:nvSpPr>
        <p:spPr>
          <a:xfrm>
            <a:off x="990600" y="1498600"/>
            <a:ext cx="6858000" cy="406400"/>
          </a:xfrm>
          <a:prstGeom prst="rect">
            <a:avLst/>
          </a:prstGeom>
          <a:noFill/>
          <a:ln/>
        </p:spPr>
        <p:txBody>
          <a:bodyPr wrap="none" lIns="0" tIns="0" rIns="0" bIns="0" rtlCol="0" anchor="ctr"/>
          <a:lstStyle/>
          <a:p>
            <a:pPr algn="l">
              <a:lnSpc>
                <a:spcPct val="120000"/>
              </a:lnSpc>
            </a:pPr>
            <a:r>
              <a:rPr lang="en-US" sz="2200" b="1" dirty="0">
                <a:solidFill>
                  <a:srgbClr val="B7410E"/>
                </a:solidFill>
                <a:latin typeface="思源宋体" pitchFamily="34" charset="0"/>
                <a:ea typeface="思源宋体" pitchFamily="34" charset="-122"/>
                <a:cs typeface="思源宋体" pitchFamily="34" charset="-120"/>
              </a:rPr>
              <a:t>जातीय विविधता</a:t>
            </a:r>
            <a:endParaRPr lang="en-US" sz="2200" dirty="0"/>
          </a:p>
        </p:txBody>
      </p:sp>
      <p:sp>
        <p:nvSpPr>
          <p:cNvPr id="6" name="Text 4"/>
          <p:cNvSpPr/>
          <p:nvPr/>
        </p:nvSpPr>
        <p:spPr>
          <a:xfrm>
            <a:off x="990600" y="2006600"/>
            <a:ext cx="6858000" cy="3937000"/>
          </a:xfrm>
          <a:prstGeom prst="rect">
            <a:avLst/>
          </a:prstGeom>
          <a:noFill/>
          <a:ln/>
        </p:spPr>
        <p:txBody>
          <a:bodyPr wrap="square" lIns="0" tIns="0" rIns="0" bIns="0" rtlCol="0" anchor="t"/>
          <a:lstStyle/>
          <a:p>
            <a:pPr algn="l">
              <a:lnSpc>
                <a:spcPct val="155000"/>
              </a:lnSpc>
            </a:pPr>
            <a:r>
              <a:rPr lang="en-US" sz="1700" dirty="0">
                <a:solidFill>
                  <a:srgbClr val="2C1810"/>
                </a:solidFill>
                <a:latin typeface="MiSans" pitchFamily="34" charset="0"/>
                <a:ea typeface="MiSans" pitchFamily="34" charset="-122"/>
                <a:cs typeface="MiSans" pitchFamily="34" charset="-120"/>
              </a:rPr>
              <a:t>नेपालमा </a:t>
            </a:r>
            <a:pPr algn="l">
              <a:lnSpc>
                <a:spcPct val="155000"/>
              </a:lnSpc>
            </a:pPr>
            <a:r>
              <a:rPr lang="en-US" sz="1700" b="1" dirty="0">
                <a:solidFill>
                  <a:srgbClr val="2C1810"/>
                </a:solidFill>
                <a:latin typeface="MiSans" pitchFamily="34" charset="0"/>
                <a:ea typeface="MiSans" pitchFamily="34" charset="-122"/>
                <a:cs typeface="MiSans" pitchFamily="34" charset="-120"/>
              </a:rPr>
              <a:t>१२५ भन्दा बढी</a:t>
            </a:r>
            <a:pPr algn="l">
              <a:lnSpc>
                <a:spcPct val="155000"/>
              </a:lnSpc>
            </a:pPr>
            <a:r>
              <a:rPr lang="en-US" sz="1700" dirty="0">
                <a:solidFill>
                  <a:srgbClr val="2C1810"/>
                </a:solidFill>
                <a:latin typeface="MiSans" pitchFamily="34" charset="0"/>
                <a:ea typeface="MiSans" pitchFamily="34" charset="-122"/>
                <a:cs typeface="MiSans" pitchFamily="34" charset="-120"/>
              </a:rPr>
              <a:t> जातजातिहरूको बसोबास छ। संविधान २०७२ ले </a:t>
            </a:r>
            <a:pPr algn="l">
              <a:lnSpc>
                <a:spcPct val="155000"/>
              </a:lnSpc>
            </a:pPr>
            <a:r>
              <a:rPr lang="en-US" sz="1700" b="1" dirty="0">
                <a:solidFill>
                  <a:srgbClr val="2C1810"/>
                </a:solidFill>
                <a:latin typeface="MiSans" pitchFamily="34" charset="0"/>
                <a:ea typeface="MiSans" pitchFamily="34" charset="-122"/>
                <a:cs typeface="MiSans" pitchFamily="34" charset="-120"/>
              </a:rPr>
              <a:t>५९ जातजातिहरू</a:t>
            </a:r>
            <a:pPr algn="l">
              <a:lnSpc>
                <a:spcPct val="155000"/>
              </a:lnSpc>
            </a:pPr>
            <a:r>
              <a:rPr lang="en-US" sz="1700" dirty="0">
                <a:solidFill>
                  <a:srgbClr val="2C1810"/>
                </a:solidFill>
                <a:latin typeface="MiSans" pitchFamily="34" charset="0"/>
                <a:ea typeface="MiSans" pitchFamily="34" charset="-122"/>
                <a:cs typeface="MiSans" pitchFamily="34" charset="-120"/>
              </a:rPr>
              <a:t>लाई आदिवासी जनजातिको मान्यता दिएको छ।</a:t>
            </a:r>
            <a:endParaRPr lang="en-US" sz="1700" dirty="0"/>
          </a:p>
          <a:p>
            <a:pPr algn="l">
              <a:lnSpc>
                <a:spcPct val="155000"/>
              </a:lnSpc>
              <a:spcBef>
                <a:spcPts val="500"/>
              </a:spcBef>
            </a:pPr>
            <a:r>
              <a:rPr lang="en-US" sz="1700" dirty="0">
                <a:solidFill>
                  <a:srgbClr val="2C1810"/>
                </a:solidFill>
                <a:latin typeface="MiSans" pitchFamily="34" charset="0"/>
                <a:ea typeface="MiSans" pitchFamily="34" charset="-122"/>
                <a:cs typeface="MiSans" pitchFamily="34" charset="-120"/>
              </a:rPr>
              <a:t>ब्राह्मण, क्षत्री, नेवार, मगर, तामाङ, गुरुङ, राई, लिम्बु, थारू, शेर्पा लगायतका प्रमुख जातजातिहरूले नेपालको सामाजिक तानाबानालाई समृद्ध बनाएका छन्।</a:t>
            </a:r>
            <a:endParaRPr lang="en-US" sz="1700" dirty="0"/>
          </a:p>
          <a:p>
            <a:pPr algn="l">
              <a:lnSpc>
                <a:spcPct val="155000"/>
              </a:lnSpc>
              <a:spcBef>
                <a:spcPts val="500"/>
              </a:spcBef>
            </a:pPr>
            <a:r>
              <a:rPr lang="en-US" sz="1700" dirty="0">
                <a:solidFill>
                  <a:srgbClr val="2C1810"/>
                </a:solidFill>
                <a:latin typeface="MiSans" pitchFamily="34" charset="0"/>
                <a:ea typeface="MiSans" pitchFamily="34" charset="-122"/>
                <a:cs typeface="MiSans" pitchFamily="34" charset="-120"/>
              </a:rPr>
              <a:t>जनगणना २०७८ अनुसार विभिन्न जातजातिहरूको विविध सहभागिताले नेपाललाई विश्वकै बहुजातीय देशहरू मध्ये एक बनाएको छ।</a:t>
            </a:r>
            <a:endParaRPr lang="en-US" sz="1700" dirty="0"/>
          </a:p>
        </p:txBody>
      </p:sp>
      <p:sp>
        <p:nvSpPr>
          <p:cNvPr id="7" name="Shape 5"/>
          <p:cNvSpPr/>
          <p:nvPr/>
        </p:nvSpPr>
        <p:spPr>
          <a:xfrm>
            <a:off x="8128000" y="1498600"/>
            <a:ext cx="0" cy="4445000"/>
          </a:xfrm>
          <a:prstGeom prst="straightConnector1">
            <a:avLst/>
          </a:prstGeom>
          <a:noFill/>
          <a:ln w="12700">
            <a:solidFill>
              <a:srgbClr val="E8DFD0"/>
            </a:solidFill>
            <a:prstDash val="solid"/>
            <a:headEnd type="none"/>
            <a:tailEnd type="none"/>
          </a:ln>
        </p:spPr>
      </p:sp>
      <p:sp>
        <p:nvSpPr>
          <p:cNvPr id="8" name="Text 6"/>
          <p:cNvSpPr/>
          <p:nvPr/>
        </p:nvSpPr>
        <p:spPr>
          <a:xfrm>
            <a:off x="8509000" y="1498600"/>
            <a:ext cx="6756400" cy="406400"/>
          </a:xfrm>
          <a:prstGeom prst="rect">
            <a:avLst/>
          </a:prstGeom>
          <a:noFill/>
          <a:ln/>
        </p:spPr>
        <p:txBody>
          <a:bodyPr wrap="none" lIns="0" tIns="0" rIns="0" bIns="0" rtlCol="0" anchor="ctr"/>
          <a:lstStyle/>
          <a:p>
            <a:pPr algn="l">
              <a:lnSpc>
                <a:spcPct val="120000"/>
              </a:lnSpc>
            </a:pPr>
            <a:r>
              <a:rPr lang="en-US" sz="2200" b="1" dirty="0">
                <a:solidFill>
                  <a:srgbClr val="B7410E"/>
                </a:solidFill>
                <a:latin typeface="思源宋体" pitchFamily="34" charset="0"/>
                <a:ea typeface="思源宋体" pitchFamily="34" charset="-122"/>
                <a:cs typeface="思源宋体" pitchFamily="34" charset="-120"/>
              </a:rPr>
              <a:t>भाषिक विविधता</a:t>
            </a:r>
            <a:endParaRPr lang="en-US" sz="2200" dirty="0"/>
          </a:p>
        </p:txBody>
      </p:sp>
      <p:sp>
        <p:nvSpPr>
          <p:cNvPr id="9" name="Text 7"/>
          <p:cNvSpPr/>
          <p:nvPr/>
        </p:nvSpPr>
        <p:spPr>
          <a:xfrm>
            <a:off x="8509000" y="2006600"/>
            <a:ext cx="6756400" cy="3937000"/>
          </a:xfrm>
          <a:prstGeom prst="rect">
            <a:avLst/>
          </a:prstGeom>
          <a:noFill/>
          <a:ln/>
        </p:spPr>
        <p:txBody>
          <a:bodyPr wrap="square" lIns="0" tIns="0" rIns="0" bIns="0" rtlCol="0" anchor="t"/>
          <a:lstStyle/>
          <a:p>
            <a:pPr algn="l">
              <a:lnSpc>
                <a:spcPct val="155000"/>
              </a:lnSpc>
            </a:pPr>
            <a:r>
              <a:rPr lang="en-US" sz="1700" dirty="0">
                <a:solidFill>
                  <a:srgbClr val="2C1810"/>
                </a:solidFill>
                <a:latin typeface="MiSans" pitchFamily="34" charset="0"/>
                <a:ea typeface="MiSans" pitchFamily="34" charset="-122"/>
                <a:cs typeface="MiSans" pitchFamily="34" charset="-120"/>
              </a:rPr>
              <a:t>नेपालमा </a:t>
            </a:r>
            <a:pPr algn="l">
              <a:lnSpc>
                <a:spcPct val="155000"/>
              </a:lnSpc>
            </a:pPr>
            <a:r>
              <a:rPr lang="en-US" sz="1700" b="1" dirty="0">
                <a:solidFill>
                  <a:srgbClr val="2C1810"/>
                </a:solidFill>
                <a:latin typeface="MiSans" pitchFamily="34" charset="0"/>
                <a:ea typeface="MiSans" pitchFamily="34" charset="-122"/>
                <a:cs typeface="MiSans" pitchFamily="34" charset="-120"/>
              </a:rPr>
              <a:t>१२३ भन्दा बढी</a:t>
            </a:r>
            <a:pPr algn="l">
              <a:lnSpc>
                <a:spcPct val="155000"/>
              </a:lnSpc>
            </a:pPr>
            <a:r>
              <a:rPr lang="en-US" sz="1700" dirty="0">
                <a:solidFill>
                  <a:srgbClr val="2C1810"/>
                </a:solidFill>
                <a:latin typeface="MiSans" pitchFamily="34" charset="0"/>
                <a:ea typeface="MiSans" pitchFamily="34" charset="-122"/>
                <a:cs typeface="MiSans" pitchFamily="34" charset="-120"/>
              </a:rPr>
              <a:t> भाषाहरू बोलिन्छन्। नेपाली राष्ट्रिय भाषा भए पनि अन्य भाषाहरूको पनि समान महत्त्व रहेको छ।</a:t>
            </a:r>
            <a:endParaRPr lang="en-US" sz="1700" dirty="0"/>
          </a:p>
          <a:p>
            <a:pPr algn="l">
              <a:lnSpc>
                <a:spcPct val="155000"/>
              </a:lnSpc>
              <a:spcBef>
                <a:spcPts val="500"/>
              </a:spcBef>
            </a:pPr>
            <a:r>
              <a:rPr lang="en-US" sz="1700" dirty="0">
                <a:solidFill>
                  <a:srgbClr val="2C1810"/>
                </a:solidFill>
                <a:latin typeface="MiSans" pitchFamily="34" charset="0"/>
                <a:ea typeface="MiSans" pitchFamily="34" charset="-122"/>
                <a:cs typeface="MiSans" pitchFamily="34" charset="-120"/>
              </a:rPr>
              <a:t>मैथिली, भोजपुरी, थारू, तामाङ, नेवारी, मगर, अवधी, लिम्बु, गुरुङ, संस्कृत लगायतका भाषाहरू व्यापक रूपमा प्रयोग हुन्छन्। संविधानले विभिन्न भाषाहरूलाई आधिकारिक मान्यता प्रदान गरेको छ।</a:t>
            </a:r>
            <a:endParaRPr lang="en-US" sz="1700" dirty="0"/>
          </a:p>
          <a:p>
            <a:pPr algn="l">
              <a:lnSpc>
                <a:spcPct val="155000"/>
              </a:lnSpc>
              <a:spcBef>
                <a:spcPts val="500"/>
              </a:spcBef>
            </a:pPr>
            <a:r>
              <a:rPr lang="en-US" sz="1700" dirty="0">
                <a:solidFill>
                  <a:srgbClr val="2C1810"/>
                </a:solidFill>
                <a:latin typeface="MiSans" pitchFamily="34" charset="0"/>
                <a:ea typeface="MiSans" pitchFamily="34" charset="-122"/>
                <a:cs typeface="MiSans" pitchFamily="34" charset="-120"/>
              </a:rPr>
              <a:t>यो भाषिक विविधता नेपालको सांस्कृतिक धरोहरको अमूल्य सम्पत्ति हो। भाषाहरूको संरक्षण राष्ट्रिय दायित्व हो।</a:t>
            </a:r>
            <a:endParaRPr lang="en-US" sz="1700" dirty="0"/>
          </a:p>
        </p:txBody>
      </p:sp>
      <p:sp>
        <p:nvSpPr>
          <p:cNvPr id="10" name="Shape 8"/>
          <p:cNvSpPr/>
          <p:nvPr/>
        </p:nvSpPr>
        <p:spPr>
          <a:xfrm>
            <a:off x="990600" y="6096000"/>
            <a:ext cx="14274800" cy="1270000"/>
          </a:xfrm>
          <a:prstGeom prst="rect">
            <a:avLst/>
          </a:prstGeom>
          <a:solidFill>
            <a:srgbClr val="B7410E">
              <a:alpha val="6275"/>
            </a:srgbClr>
          </a:solidFill>
          <a:ln/>
        </p:spPr>
      </p:sp>
      <p:sp>
        <p:nvSpPr>
          <p:cNvPr id="11" name="Text 9"/>
          <p:cNvSpPr/>
          <p:nvPr/>
        </p:nvSpPr>
        <p:spPr>
          <a:xfrm>
            <a:off x="1270000" y="6159500"/>
            <a:ext cx="3048000" cy="1143000"/>
          </a:xfrm>
          <a:prstGeom prst="rect">
            <a:avLst/>
          </a:prstGeom>
          <a:noFill/>
          <a:ln/>
        </p:spPr>
        <p:txBody>
          <a:bodyPr wrap="square" lIns="0" tIns="0" rIns="0" bIns="0" rtlCol="0" anchor="ctr"/>
          <a:lstStyle/>
          <a:p>
            <a:pPr algn="ctr">
              <a:lnSpc>
                <a:spcPct val="150000"/>
              </a:lnSpc>
            </a:pPr>
            <a:r>
              <a:rPr lang="en-US" sz="2600" b="1" dirty="0">
                <a:solidFill>
                  <a:srgbClr val="B7410E"/>
                </a:solidFill>
                <a:latin typeface="MiSans" pitchFamily="34" charset="0"/>
                <a:ea typeface="MiSans" pitchFamily="34" charset="-122"/>
                <a:cs typeface="MiSans" pitchFamily="34" charset="-120"/>
              </a:rPr>
              <a:t>१२५+</a:t>
            </a:r>
            <a:endParaRPr lang="en-US" sz="2600" dirty="0"/>
          </a:p>
          <a:p>
            <a:pPr algn="ctr">
              <a:lnSpc>
                <a:spcPct val="150000"/>
              </a:lnSpc>
            </a:pPr>
            <a:r>
              <a:rPr lang="en-US" sz="1600" dirty="0">
                <a:solidFill>
                  <a:srgbClr val="2C1810"/>
                </a:solidFill>
                <a:latin typeface="MiSans" pitchFamily="34" charset="0"/>
                <a:ea typeface="MiSans" pitchFamily="34" charset="-122"/>
                <a:cs typeface="MiSans" pitchFamily="34" charset="-120"/>
              </a:rPr>
              <a:t>जातजातिहरू</a:t>
            </a:r>
            <a:endParaRPr lang="en-US" sz="2600" dirty="0"/>
          </a:p>
        </p:txBody>
      </p:sp>
      <p:sp>
        <p:nvSpPr>
          <p:cNvPr id="12" name="Text 10"/>
          <p:cNvSpPr/>
          <p:nvPr/>
        </p:nvSpPr>
        <p:spPr>
          <a:xfrm>
            <a:off x="4826000" y="6159500"/>
            <a:ext cx="3048000" cy="1143000"/>
          </a:xfrm>
          <a:prstGeom prst="rect">
            <a:avLst/>
          </a:prstGeom>
          <a:noFill/>
          <a:ln/>
        </p:spPr>
        <p:txBody>
          <a:bodyPr wrap="square" lIns="0" tIns="0" rIns="0" bIns="0" rtlCol="0" anchor="ctr"/>
          <a:lstStyle/>
          <a:p>
            <a:pPr algn="ctr">
              <a:lnSpc>
                <a:spcPct val="150000"/>
              </a:lnSpc>
            </a:pPr>
            <a:r>
              <a:rPr lang="en-US" sz="2600" b="1" dirty="0">
                <a:solidFill>
                  <a:srgbClr val="B7410E"/>
                </a:solidFill>
                <a:latin typeface="MiSans" pitchFamily="34" charset="0"/>
                <a:ea typeface="MiSans" pitchFamily="34" charset="-122"/>
                <a:cs typeface="MiSans" pitchFamily="34" charset="-120"/>
              </a:rPr>
              <a:t>१२३+</a:t>
            </a:r>
            <a:endParaRPr lang="en-US" sz="2600" dirty="0"/>
          </a:p>
          <a:p>
            <a:pPr algn="ctr">
              <a:lnSpc>
                <a:spcPct val="150000"/>
              </a:lnSpc>
            </a:pPr>
            <a:r>
              <a:rPr lang="en-US" sz="1600" dirty="0">
                <a:solidFill>
                  <a:srgbClr val="2C1810"/>
                </a:solidFill>
                <a:latin typeface="MiSans" pitchFamily="34" charset="0"/>
                <a:ea typeface="MiSans" pitchFamily="34" charset="-122"/>
                <a:cs typeface="MiSans" pitchFamily="34" charset="-120"/>
              </a:rPr>
              <a:t>भाषाहरू</a:t>
            </a:r>
            <a:endParaRPr lang="en-US" sz="2600" dirty="0"/>
          </a:p>
        </p:txBody>
      </p:sp>
      <p:sp>
        <p:nvSpPr>
          <p:cNvPr id="13" name="Text 11"/>
          <p:cNvSpPr/>
          <p:nvPr/>
        </p:nvSpPr>
        <p:spPr>
          <a:xfrm>
            <a:off x="8382000" y="6223000"/>
            <a:ext cx="3048000" cy="1079500"/>
          </a:xfrm>
          <a:prstGeom prst="rect">
            <a:avLst/>
          </a:prstGeom>
          <a:noFill/>
          <a:ln/>
        </p:spPr>
        <p:txBody>
          <a:bodyPr wrap="square" lIns="0" tIns="0" rIns="0" bIns="0" rtlCol="0" anchor="ctr"/>
          <a:lstStyle/>
          <a:p>
            <a:pPr algn="ctr">
              <a:lnSpc>
                <a:spcPct val="150000"/>
              </a:lnSpc>
            </a:pPr>
            <a:r>
              <a:rPr lang="en-US" sz="2600" b="1" dirty="0">
                <a:solidFill>
                  <a:srgbClr val="B7410E"/>
                </a:solidFill>
                <a:latin typeface="MiSans" pitchFamily="34" charset="0"/>
                <a:ea typeface="MiSans" pitchFamily="34" charset="-122"/>
                <a:cs typeface="MiSans" pitchFamily="34" charset="-120"/>
              </a:rPr>
              <a:t>५९</a:t>
            </a:r>
            <a:endParaRPr lang="en-US" sz="2600" dirty="0"/>
          </a:p>
          <a:p>
            <a:pPr algn="ctr">
              <a:lnSpc>
                <a:spcPct val="150000"/>
              </a:lnSpc>
            </a:pPr>
            <a:r>
              <a:rPr lang="en-US" sz="1600" dirty="0">
                <a:solidFill>
                  <a:srgbClr val="2C1810"/>
                </a:solidFill>
                <a:latin typeface="MiSans" pitchFamily="34" charset="0"/>
                <a:ea typeface="MiSans" pitchFamily="34" charset="-122"/>
                <a:cs typeface="MiSans" pitchFamily="34" charset="-120"/>
              </a:rPr>
              <a:t>आदिवासी जनजाति</a:t>
            </a:r>
            <a:endParaRPr lang="en-US" sz="2600" dirty="0"/>
          </a:p>
        </p:txBody>
      </p:sp>
      <p:sp>
        <p:nvSpPr>
          <p:cNvPr id="14" name="Text 12"/>
          <p:cNvSpPr/>
          <p:nvPr/>
        </p:nvSpPr>
        <p:spPr>
          <a:xfrm>
            <a:off x="11938000" y="6159500"/>
            <a:ext cx="3048000" cy="1143000"/>
          </a:xfrm>
          <a:prstGeom prst="rect">
            <a:avLst/>
          </a:prstGeom>
          <a:noFill/>
          <a:ln/>
        </p:spPr>
        <p:txBody>
          <a:bodyPr wrap="square" lIns="0" tIns="0" rIns="0" bIns="0" rtlCol="0" anchor="ctr"/>
          <a:lstStyle/>
          <a:p>
            <a:pPr algn="ctr">
              <a:lnSpc>
                <a:spcPct val="150000"/>
              </a:lnSpc>
            </a:pPr>
            <a:r>
              <a:rPr lang="en-US" sz="2600" b="1" dirty="0">
                <a:solidFill>
                  <a:srgbClr val="B7410E"/>
                </a:solidFill>
                <a:latin typeface="MiSans" pitchFamily="34" charset="0"/>
                <a:ea typeface="MiSans" pitchFamily="34" charset="-122"/>
                <a:cs typeface="MiSans" pitchFamily="34" charset="-120"/>
              </a:rPr>
              <a:t>१४२</a:t>
            </a:r>
            <a:endParaRPr lang="en-US" sz="2600" dirty="0"/>
          </a:p>
          <a:p>
            <a:pPr algn="ctr">
              <a:lnSpc>
                <a:spcPct val="150000"/>
              </a:lnSpc>
            </a:pPr>
            <a:r>
              <a:rPr lang="en-US" sz="1600" dirty="0">
                <a:solidFill>
                  <a:srgbClr val="2C1810"/>
                </a:solidFill>
                <a:latin typeface="MiSans" pitchFamily="34" charset="0"/>
                <a:ea typeface="MiSans" pitchFamily="34" charset="-122"/>
                <a:cs typeface="MiSans" pitchFamily="34" charset="-120"/>
              </a:rPr>
              <a:t>जातीय समूह</a:t>
            </a:r>
            <a:endParaRPr lang="en-US" sz="2600" dirty="0"/>
          </a:p>
        </p:txBody>
      </p:sp>
      <p:sp>
        <p:nvSpPr>
          <p:cNvPr id="15" name="Text 13"/>
          <p:cNvSpPr/>
          <p:nvPr/>
        </p:nvSpPr>
        <p:spPr>
          <a:xfrm>
            <a:off x="990600" y="7429500"/>
            <a:ext cx="14274800" cy="889000"/>
          </a:xfrm>
          <a:prstGeom prst="rect">
            <a:avLst/>
          </a:prstGeom>
          <a:noFill/>
          <a:ln/>
        </p:spPr>
        <p:txBody>
          <a:bodyPr wrap="square" lIns="0" tIns="0" rIns="0" bIns="0" rtlCol="0" anchor="t"/>
          <a:lstStyle/>
          <a:p>
            <a:pPr algn="l">
              <a:lnSpc>
                <a:spcPct val="160000"/>
              </a:lnSpc>
            </a:pPr>
            <a:r>
              <a:rPr lang="en-US" sz="1800" dirty="0">
                <a:solidFill>
                  <a:srgbClr val="2C1810"/>
                </a:solidFill>
                <a:latin typeface="MiSans" pitchFamily="34" charset="0"/>
                <a:ea typeface="MiSans" pitchFamily="34" charset="-122"/>
                <a:cs typeface="MiSans" pitchFamily="34" charset="-120"/>
              </a:rPr>
              <a:t>नेपालको जातीय र भाषिक विविधता एउटा वास्तविकतामा आधारित अमूल्य सम्पत्ति हो। यसको संरक्षण र सम्मान गर्नु सबै नेपालीको साझा दायित्व हो।</a:t>
            </a:r>
            <a:endParaRPr lang="en-US" sz="1800" dirty="0"/>
          </a:p>
        </p:txBody>
      </p:sp>
      <p:sp>
        <p:nvSpPr>
          <p:cNvPr id="16" name="Shape 14"/>
          <p:cNvSpPr/>
          <p:nvPr/>
        </p:nvSpPr>
        <p:spPr>
          <a:xfrm>
            <a:off x="762000" y="8636000"/>
            <a:ext cx="14732000" cy="0"/>
          </a:xfrm>
          <a:prstGeom prst="straightConnector1">
            <a:avLst/>
          </a:prstGeom>
          <a:noFill/>
          <a:ln w="12700">
            <a:solidFill>
              <a:srgbClr val="E8DFD0"/>
            </a:solidFill>
            <a:prstDash val="solid"/>
            <a:headEnd type="none"/>
            <a:tailEnd type="none"/>
          </a:ln>
        </p:spPr>
      </p:sp>
      <p:sp>
        <p:nvSpPr>
          <p:cNvPr id="17" name="Text 15"/>
          <p:cNvSpPr/>
          <p:nvPr/>
        </p:nvSpPr>
        <p:spPr>
          <a:xfrm>
            <a:off x="14732000" y="8699500"/>
            <a:ext cx="762000" cy="304800"/>
          </a:xfrm>
          <a:prstGeom prst="rect">
            <a:avLst/>
          </a:prstGeom>
          <a:noFill/>
          <a:ln/>
        </p:spPr>
        <p:txBody>
          <a:bodyPr wrap="none" lIns="0" tIns="0" rIns="0" bIns="0" rtlCol="0" anchor="ctr"/>
          <a:lstStyle/>
          <a:p>
            <a:pPr algn="r">
              <a:lnSpc>
                <a:spcPct val="140000"/>
              </a:lnSpc>
            </a:pPr>
            <a:r>
              <a:rPr lang="en-US" sz="1400" dirty="0">
                <a:solidFill>
                  <a:srgbClr val="8B7355"/>
                </a:solidFill>
                <a:latin typeface="MiSans" pitchFamily="34" charset="0"/>
                <a:ea typeface="MiSans" pitchFamily="34" charset="-122"/>
                <a:cs typeface="MiSans" pitchFamily="34" charset="-120"/>
              </a:rPr>
              <a:t>७</a:t>
            </a:r>
            <a:endParaRPr lang="en-US" sz="14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762000" y="660400"/>
            <a:ext cx="63500" cy="457200"/>
          </a:xfrm>
          <a:prstGeom prst="rect">
            <a:avLst/>
          </a:prstGeom>
          <a:solidFill>
            <a:srgbClr val="B7410E"/>
          </a:solidFill>
          <a:ln/>
        </p:spPr>
      </p:sp>
      <p:sp>
        <p:nvSpPr>
          <p:cNvPr id="3" name="Text 1"/>
          <p:cNvSpPr/>
          <p:nvPr/>
        </p:nvSpPr>
        <p:spPr>
          <a:xfrm>
            <a:off x="990600" y="609600"/>
            <a:ext cx="11430000" cy="558800"/>
          </a:xfrm>
          <a:prstGeom prst="rect">
            <a:avLst/>
          </a:prstGeom>
          <a:noFill/>
          <a:ln/>
        </p:spPr>
        <p:txBody>
          <a:bodyPr wrap="none" lIns="0" tIns="0" rIns="0" bIns="0" rtlCol="0" anchor="ctr"/>
          <a:lstStyle/>
          <a:p>
            <a:pPr algn="l">
              <a:lnSpc>
                <a:spcPct val="130000"/>
              </a:lnSpc>
            </a:pPr>
            <a:r>
              <a:rPr lang="en-US" sz="3000" b="1" dirty="0">
                <a:solidFill>
                  <a:srgbClr val="2C1810"/>
                </a:solidFill>
                <a:latin typeface="思源宋体" pitchFamily="34" charset="0"/>
                <a:ea typeface="思源宋体" pitchFamily="34" charset="-122"/>
                <a:cs typeface="思源宋体" pitchFamily="34" charset="-120"/>
              </a:rPr>
              <a:t>धार्मिक र सांस्कृतिक विविधता</a:t>
            </a:r>
            <a:endParaRPr lang="en-US" sz="3000" dirty="0"/>
          </a:p>
        </p:txBody>
      </p:sp>
      <p:sp>
        <p:nvSpPr>
          <p:cNvPr id="4" name="Shape 2"/>
          <p:cNvSpPr/>
          <p:nvPr/>
        </p:nvSpPr>
        <p:spPr>
          <a:xfrm>
            <a:off x="990600" y="1219200"/>
            <a:ext cx="2540000" cy="0"/>
          </a:xfrm>
          <a:prstGeom prst="straightConnector1">
            <a:avLst/>
          </a:prstGeom>
          <a:noFill/>
          <a:ln w="25400">
            <a:solidFill>
              <a:srgbClr val="B7410E"/>
            </a:solidFill>
            <a:prstDash val="solid"/>
            <a:headEnd type="none"/>
            <a:tailEnd type="none"/>
          </a:ln>
        </p:spPr>
      </p:sp>
      <p:sp>
        <p:nvSpPr>
          <p:cNvPr id="5" name="Text 3"/>
          <p:cNvSpPr/>
          <p:nvPr/>
        </p:nvSpPr>
        <p:spPr>
          <a:xfrm>
            <a:off x="990600" y="1498600"/>
            <a:ext cx="6350000" cy="381000"/>
          </a:xfrm>
          <a:prstGeom prst="rect">
            <a:avLst/>
          </a:prstGeom>
          <a:noFill/>
          <a:ln/>
        </p:spPr>
        <p:txBody>
          <a:bodyPr wrap="none" lIns="0" tIns="0" rIns="0" bIns="0" rtlCol="0" anchor="ctr"/>
          <a:lstStyle/>
          <a:p>
            <a:pPr algn="l">
              <a:lnSpc>
                <a:spcPct val="120000"/>
              </a:lnSpc>
            </a:pPr>
            <a:r>
              <a:rPr lang="en-US" sz="2200" b="1" dirty="0">
                <a:solidFill>
                  <a:srgbClr val="B7410E"/>
                </a:solidFill>
                <a:latin typeface="思源宋体" pitchFamily="34" charset="0"/>
                <a:ea typeface="思源宋体" pitchFamily="34" charset="-122"/>
                <a:cs typeface="思源宋体" pitchFamily="34" charset="-120"/>
              </a:rPr>
              <a:t>धार्मिक सहअस्तित्व</a:t>
            </a:r>
            <a:endParaRPr lang="en-US" sz="2200" dirty="0"/>
          </a:p>
        </p:txBody>
      </p:sp>
      <p:sp>
        <p:nvSpPr>
          <p:cNvPr id="6" name="Text 4"/>
          <p:cNvSpPr/>
          <p:nvPr/>
        </p:nvSpPr>
        <p:spPr>
          <a:xfrm>
            <a:off x="990600" y="1968500"/>
            <a:ext cx="14274800" cy="2032000"/>
          </a:xfrm>
          <a:prstGeom prst="rect">
            <a:avLst/>
          </a:prstGeom>
          <a:noFill/>
          <a:ln/>
        </p:spPr>
        <p:txBody>
          <a:bodyPr wrap="square" lIns="0" tIns="0" rIns="0" bIns="0" rtlCol="0" anchor="t"/>
          <a:lstStyle/>
          <a:p>
            <a:pPr algn="l">
              <a:lnSpc>
                <a:spcPct val="170000"/>
              </a:lnSpc>
            </a:pPr>
            <a:r>
              <a:rPr lang="en-US" sz="1900" dirty="0">
                <a:solidFill>
                  <a:srgbClr val="2C1810"/>
                </a:solidFill>
                <a:latin typeface="MiSans" pitchFamily="34" charset="0"/>
                <a:ea typeface="MiSans" pitchFamily="34" charset="-122"/>
                <a:cs typeface="MiSans" pitchFamily="34" charset="-120"/>
              </a:rPr>
              <a:t>नेपाल धर्मनिरपेक्ष राष्ट्र भए पनि यहाँ </a:t>
            </a:r>
            <a:pPr algn="l">
              <a:lnSpc>
                <a:spcPct val="170000"/>
              </a:lnSpc>
            </a:pPr>
            <a:r>
              <a:rPr lang="en-US" sz="1900" b="1" dirty="0">
                <a:solidFill>
                  <a:srgbClr val="2C1810"/>
                </a:solidFill>
                <a:latin typeface="MiSans" pitchFamily="34" charset="0"/>
                <a:ea typeface="MiSans" pitchFamily="34" charset="-122"/>
                <a:cs typeface="MiSans" pitchFamily="34" charset="-120"/>
              </a:rPr>
              <a:t>हिन्दू, बौद्ध, इस्लाम, किराँत, ईसाई, सिख, बोन</a:t>
            </a:r>
            <a:pPr algn="l">
              <a:lnSpc>
                <a:spcPct val="170000"/>
              </a:lnSpc>
            </a:pPr>
            <a:r>
              <a:rPr lang="en-US" sz="1900" dirty="0">
                <a:solidFill>
                  <a:srgbClr val="2C1810"/>
                </a:solidFill>
                <a:latin typeface="MiSans" pitchFamily="34" charset="0"/>
                <a:ea typeface="MiSans" pitchFamily="34" charset="-122"/>
                <a:cs typeface="MiSans" pitchFamily="34" charset="-120"/>
              </a:rPr>
              <a:t> लगायत विभिन्न धर्महरूको सहअस्तित्व छ। लुम्बिनी — गौतम बुद्धको जन्मस्थल — नेपालको गौरवमय धार्मिक सम्पदा हो। पशुपतिनाथ, स्वयम्भूनाथ, बौद्धनाथ लगायतका धार्मिक स्थलहरू विभिन्न धर्मावलम्बीहरूको साझा आस्थाको केन्द्र हुन्। नेपालमा धार्मिक सहिष्णुताको परम्परा शताब्दीयौंदेखि कायम छ।</a:t>
            </a:r>
            <a:endParaRPr lang="en-US" sz="1900" dirty="0"/>
          </a:p>
        </p:txBody>
      </p:sp>
      <p:sp>
        <p:nvSpPr>
          <p:cNvPr id="7" name="Shape 5"/>
          <p:cNvSpPr/>
          <p:nvPr/>
        </p:nvSpPr>
        <p:spPr>
          <a:xfrm>
            <a:off x="990600" y="4127500"/>
            <a:ext cx="14274800" cy="0"/>
          </a:xfrm>
          <a:prstGeom prst="straightConnector1">
            <a:avLst/>
          </a:prstGeom>
          <a:noFill/>
          <a:ln w="12700">
            <a:solidFill>
              <a:srgbClr val="E8DFD0"/>
            </a:solidFill>
            <a:prstDash val="solid"/>
            <a:headEnd type="none"/>
            <a:tailEnd type="none"/>
          </a:ln>
        </p:spPr>
      </p:sp>
      <p:sp>
        <p:nvSpPr>
          <p:cNvPr id="8" name="Text 6"/>
          <p:cNvSpPr/>
          <p:nvPr/>
        </p:nvSpPr>
        <p:spPr>
          <a:xfrm>
            <a:off x="990600" y="4318000"/>
            <a:ext cx="6350000" cy="381000"/>
          </a:xfrm>
          <a:prstGeom prst="rect">
            <a:avLst/>
          </a:prstGeom>
          <a:noFill/>
          <a:ln/>
        </p:spPr>
        <p:txBody>
          <a:bodyPr wrap="none" lIns="0" tIns="0" rIns="0" bIns="0" rtlCol="0" anchor="ctr"/>
          <a:lstStyle/>
          <a:p>
            <a:pPr algn="l">
              <a:lnSpc>
                <a:spcPct val="120000"/>
              </a:lnSpc>
            </a:pPr>
            <a:r>
              <a:rPr lang="en-US" sz="2200" b="1" dirty="0">
                <a:solidFill>
                  <a:srgbClr val="B7410E"/>
                </a:solidFill>
                <a:latin typeface="思源宋体" pitchFamily="34" charset="0"/>
                <a:ea typeface="思源宋体" pitchFamily="34" charset="-122"/>
                <a:cs typeface="思源宋体" pitchFamily="34" charset="-120"/>
              </a:rPr>
              <a:t>सांस्कृतिक समृद्धि</a:t>
            </a:r>
            <a:endParaRPr lang="en-US" sz="2200" dirty="0"/>
          </a:p>
        </p:txBody>
      </p:sp>
      <p:sp>
        <p:nvSpPr>
          <p:cNvPr id="9" name="Text 7"/>
          <p:cNvSpPr/>
          <p:nvPr/>
        </p:nvSpPr>
        <p:spPr>
          <a:xfrm>
            <a:off x="990600" y="4826000"/>
            <a:ext cx="6858000" cy="330200"/>
          </a:xfrm>
          <a:prstGeom prst="rect">
            <a:avLst/>
          </a:prstGeom>
          <a:noFill/>
          <a:ln/>
        </p:spPr>
        <p:txBody>
          <a:bodyPr wrap="none" lIns="0" tIns="0" rIns="0" bIns="0" rtlCol="0" anchor="ctr"/>
          <a:lstStyle/>
          <a:p>
            <a:pPr algn="l">
              <a:lnSpc>
                <a:spcPct val="120000"/>
              </a:lnSpc>
            </a:pPr>
            <a:r>
              <a:rPr lang="en-US" sz="2000" b="1" dirty="0">
                <a:solidFill>
                  <a:srgbClr val="2C1810"/>
                </a:solidFill>
                <a:latin typeface="思源宋体" pitchFamily="34" charset="0"/>
                <a:ea typeface="思源宋体" pitchFamily="34" charset="-122"/>
                <a:cs typeface="思源宋体" pitchFamily="34" charset="-120"/>
              </a:rPr>
              <a:t>प्रमुख चाडपर्वहरू</a:t>
            </a:r>
            <a:endParaRPr lang="en-US" sz="2000" dirty="0"/>
          </a:p>
        </p:txBody>
      </p:sp>
      <p:sp>
        <p:nvSpPr>
          <p:cNvPr id="10" name="Text 8"/>
          <p:cNvSpPr/>
          <p:nvPr/>
        </p:nvSpPr>
        <p:spPr>
          <a:xfrm>
            <a:off x="990600" y="5232400"/>
            <a:ext cx="6858000" cy="1651000"/>
          </a:xfrm>
          <a:prstGeom prst="rect">
            <a:avLst/>
          </a:prstGeom>
          <a:noFill/>
          <a:ln/>
        </p:spPr>
        <p:txBody>
          <a:bodyPr wrap="square" lIns="0" tIns="0" rIns="0" bIns="0" rtlCol="0" anchor="t"/>
          <a:lstStyle/>
          <a:p>
            <a:pPr algn="l">
              <a:lnSpc>
                <a:spcPct val="155000"/>
              </a:lnSpc>
            </a:pPr>
            <a:r>
              <a:rPr lang="en-US" sz="1700" dirty="0">
                <a:solidFill>
                  <a:srgbClr val="2C1810"/>
                </a:solidFill>
                <a:latin typeface="MiSans" pitchFamily="34" charset="0"/>
                <a:ea typeface="MiSans" pitchFamily="34" charset="-122"/>
                <a:cs typeface="MiSans" pitchFamily="34" charset="-120"/>
              </a:rPr>
              <a:t>नेपालमा वर्षभरि </a:t>
            </a:r>
            <a:pPr algn="l">
              <a:lnSpc>
                <a:spcPct val="155000"/>
              </a:lnSpc>
            </a:pPr>
            <a:r>
              <a:rPr lang="en-US" sz="1700" b="1" dirty="0">
                <a:solidFill>
                  <a:srgbClr val="2C1810"/>
                </a:solidFill>
                <a:latin typeface="MiSans" pitchFamily="34" charset="0"/>
                <a:ea typeface="MiSans" pitchFamily="34" charset="-122"/>
                <a:cs typeface="MiSans" pitchFamily="34" charset="-120"/>
              </a:rPr>
              <a:t>सयौं चाडपर्वहरू</a:t>
            </a:r>
            <a:pPr algn="l">
              <a:lnSpc>
                <a:spcPct val="155000"/>
              </a:lnSpc>
            </a:pPr>
            <a:r>
              <a:rPr lang="en-US" sz="1700" dirty="0">
                <a:solidFill>
                  <a:srgbClr val="2C1810"/>
                </a:solidFill>
                <a:latin typeface="MiSans" pitchFamily="34" charset="0"/>
                <a:ea typeface="MiSans" pitchFamily="34" charset="-122"/>
                <a:cs typeface="MiSans" pitchFamily="34" charset="-120"/>
              </a:rPr>
              <a:t> मनाइन्छन्। दसैं र तिहार राष्ट्रिय चाडका रूपमा मनाइन्छन्। नेवारको इन्द्रजात्रा, शेर्पाको लोसार, किराँतको चह्रपर्व, माघे संक्रान्ति, ईद, क्रिसमस लगायत चाडपर्वहरूले समाजलाई रङ्गिन बनाएको छ।</a:t>
            </a:r>
            <a:endParaRPr lang="en-US" sz="1700" dirty="0"/>
          </a:p>
        </p:txBody>
      </p:sp>
      <p:sp>
        <p:nvSpPr>
          <p:cNvPr id="11" name="Text 9"/>
          <p:cNvSpPr/>
          <p:nvPr/>
        </p:nvSpPr>
        <p:spPr>
          <a:xfrm>
            <a:off x="8382000" y="4826000"/>
            <a:ext cx="6883400" cy="330200"/>
          </a:xfrm>
          <a:prstGeom prst="rect">
            <a:avLst/>
          </a:prstGeom>
          <a:noFill/>
          <a:ln/>
        </p:spPr>
        <p:txBody>
          <a:bodyPr wrap="none" lIns="0" tIns="0" rIns="0" bIns="0" rtlCol="0" anchor="ctr"/>
          <a:lstStyle/>
          <a:p>
            <a:pPr algn="l">
              <a:lnSpc>
                <a:spcPct val="120000"/>
              </a:lnSpc>
            </a:pPr>
            <a:r>
              <a:rPr lang="en-US" sz="2000" b="1" dirty="0">
                <a:solidFill>
                  <a:srgbClr val="2C1810"/>
                </a:solidFill>
                <a:latin typeface="思源宋体" pitchFamily="34" charset="0"/>
                <a:ea typeface="思源宋体" pitchFamily="34" charset="-122"/>
                <a:cs typeface="思源宋体" pitchFamily="34" charset="-120"/>
              </a:rPr>
              <a:t>कला, संगीत र नृत्य</a:t>
            </a:r>
            <a:endParaRPr lang="en-US" sz="2000" dirty="0"/>
          </a:p>
        </p:txBody>
      </p:sp>
      <p:sp>
        <p:nvSpPr>
          <p:cNvPr id="12" name="Text 10"/>
          <p:cNvSpPr/>
          <p:nvPr/>
        </p:nvSpPr>
        <p:spPr>
          <a:xfrm>
            <a:off x="8382000" y="5232400"/>
            <a:ext cx="6883400" cy="1651000"/>
          </a:xfrm>
          <a:prstGeom prst="rect">
            <a:avLst/>
          </a:prstGeom>
          <a:noFill/>
          <a:ln/>
        </p:spPr>
        <p:txBody>
          <a:bodyPr wrap="square" lIns="0" tIns="0" rIns="0" bIns="0" rtlCol="0" anchor="t"/>
          <a:lstStyle/>
          <a:p>
            <a:pPr algn="l">
              <a:lnSpc>
                <a:spcPct val="155000"/>
              </a:lnSpc>
            </a:pPr>
            <a:r>
              <a:rPr lang="en-US" sz="1700" dirty="0">
                <a:solidFill>
                  <a:srgbClr val="2C1810"/>
                </a:solidFill>
                <a:latin typeface="MiSans" pitchFamily="34" charset="0"/>
                <a:ea typeface="MiSans" pitchFamily="34" charset="-122"/>
                <a:cs typeface="MiSans" pitchFamily="34" charset="-120"/>
              </a:rPr>
              <a:t>नेपालको संस्कृति </a:t>
            </a:r>
            <a:pPr algn="l">
              <a:lnSpc>
                <a:spcPct val="155000"/>
              </a:lnSpc>
            </a:pPr>
            <a:r>
              <a:rPr lang="en-US" sz="1700" b="1" dirty="0">
                <a:solidFill>
                  <a:srgbClr val="2C1810"/>
                </a:solidFill>
                <a:latin typeface="MiSans" pitchFamily="34" charset="0"/>
                <a:ea typeface="MiSans" pitchFamily="34" charset="-122"/>
                <a:cs typeface="MiSans" pitchFamily="34" charset="-120"/>
              </a:rPr>
              <a:t>लोकसंस्कृति, शास्त्रीय संस्कृति र आधुनिक संस्कृतिको</a:t>
            </a:r>
            <a:pPr algn="l">
              <a:lnSpc>
                <a:spcPct val="155000"/>
              </a:lnSpc>
            </a:pPr>
            <a:r>
              <a:rPr lang="en-US" sz="1700" dirty="0">
                <a:solidFill>
                  <a:srgbClr val="2C1810"/>
                </a:solidFill>
                <a:latin typeface="MiSans" pitchFamily="34" charset="0"/>
                <a:ea typeface="MiSans" pitchFamily="34" charset="-122"/>
                <a:cs typeface="MiSans" pitchFamily="34" charset="-120"/>
              </a:rPr>
              <a:t> अनूठो मिश्रण हो। विभिन्न जातजातिका आफ्नै पहिरन, संगीत, नृत्य र परम्परागत ज्ञानले नेपाललाई सांस्कृतिक गन्तव्य बनाएको छ।</a:t>
            </a:r>
            <a:endParaRPr lang="en-US" sz="1700" dirty="0"/>
          </a:p>
        </p:txBody>
      </p:sp>
      <p:sp>
        <p:nvSpPr>
          <p:cNvPr id="13" name="Shape 11"/>
          <p:cNvSpPr/>
          <p:nvPr/>
        </p:nvSpPr>
        <p:spPr>
          <a:xfrm>
            <a:off x="990600" y="7048500"/>
            <a:ext cx="14274800" cy="1143000"/>
          </a:xfrm>
          <a:prstGeom prst="rect">
            <a:avLst/>
          </a:prstGeom>
          <a:solidFill>
            <a:srgbClr val="B7410E">
              <a:alpha val="3137"/>
            </a:srgbClr>
          </a:solidFill>
          <a:ln/>
        </p:spPr>
      </p:sp>
      <p:sp>
        <p:nvSpPr>
          <p:cNvPr id="14" name="Shape 12"/>
          <p:cNvSpPr/>
          <p:nvPr/>
        </p:nvSpPr>
        <p:spPr>
          <a:xfrm>
            <a:off x="990600" y="7048500"/>
            <a:ext cx="63500" cy="1143000"/>
          </a:xfrm>
          <a:prstGeom prst="rect">
            <a:avLst/>
          </a:prstGeom>
          <a:solidFill>
            <a:srgbClr val="B7410E"/>
          </a:solidFill>
          <a:ln/>
        </p:spPr>
      </p:sp>
      <p:sp>
        <p:nvSpPr>
          <p:cNvPr id="15" name="Text 13"/>
          <p:cNvSpPr/>
          <p:nvPr/>
        </p:nvSpPr>
        <p:spPr>
          <a:xfrm>
            <a:off x="1270000" y="7137400"/>
            <a:ext cx="13716000" cy="965200"/>
          </a:xfrm>
          <a:prstGeom prst="rect">
            <a:avLst/>
          </a:prstGeom>
          <a:noFill/>
          <a:ln/>
        </p:spPr>
        <p:txBody>
          <a:bodyPr wrap="square" lIns="0" tIns="0" rIns="0" bIns="0" rtlCol="0" anchor="ctr"/>
          <a:lstStyle/>
          <a:p>
            <a:pPr algn="l">
              <a:lnSpc>
                <a:spcPct val="160000"/>
              </a:lnSpc>
            </a:pPr>
            <a:r>
              <a:rPr lang="en-US" sz="1900" i="1" dirty="0">
                <a:solidFill>
                  <a:srgbClr val="2C1810"/>
                </a:solidFill>
                <a:latin typeface="思源宋体" pitchFamily="34" charset="0"/>
                <a:ea typeface="思源宋体" pitchFamily="34" charset="-122"/>
                <a:cs typeface="思源宋体" pitchFamily="34" charset="-120"/>
              </a:rPr>
              <a:t>"संस्कृति जीवनको शैली हो — नेपालको विविध संस्कृति नै हाम्रो साझा धरोहर र गौरव हो।"</a:t>
            </a:r>
            <a:endParaRPr lang="en-US" sz="1900" dirty="0"/>
          </a:p>
        </p:txBody>
      </p:sp>
      <p:sp>
        <p:nvSpPr>
          <p:cNvPr id="16" name="Shape 14"/>
          <p:cNvSpPr/>
          <p:nvPr/>
        </p:nvSpPr>
        <p:spPr>
          <a:xfrm>
            <a:off x="762000" y="8636000"/>
            <a:ext cx="14732000" cy="0"/>
          </a:xfrm>
          <a:prstGeom prst="straightConnector1">
            <a:avLst/>
          </a:prstGeom>
          <a:noFill/>
          <a:ln w="12700">
            <a:solidFill>
              <a:srgbClr val="E8DFD0"/>
            </a:solidFill>
            <a:prstDash val="solid"/>
            <a:headEnd type="none"/>
            <a:tailEnd type="none"/>
          </a:ln>
        </p:spPr>
      </p:sp>
      <p:sp>
        <p:nvSpPr>
          <p:cNvPr id="17" name="Text 15"/>
          <p:cNvSpPr/>
          <p:nvPr/>
        </p:nvSpPr>
        <p:spPr>
          <a:xfrm>
            <a:off x="14732000" y="8699500"/>
            <a:ext cx="762000" cy="304800"/>
          </a:xfrm>
          <a:prstGeom prst="rect">
            <a:avLst/>
          </a:prstGeom>
          <a:noFill/>
          <a:ln/>
        </p:spPr>
        <p:txBody>
          <a:bodyPr wrap="none" lIns="0" tIns="0" rIns="0" bIns="0" rtlCol="0" anchor="ctr"/>
          <a:lstStyle/>
          <a:p>
            <a:pPr algn="r">
              <a:lnSpc>
                <a:spcPct val="140000"/>
              </a:lnSpc>
            </a:pPr>
            <a:r>
              <a:rPr lang="en-US" sz="1400" dirty="0">
                <a:solidFill>
                  <a:srgbClr val="8B7355"/>
                </a:solidFill>
                <a:latin typeface="MiSans" pitchFamily="34" charset="0"/>
                <a:ea typeface="MiSans" pitchFamily="34" charset="-122"/>
                <a:cs typeface="MiSans" pitchFamily="34" charset="-120"/>
              </a:rPr>
              <a:t>८</a:t>
            </a:r>
            <a:endParaRPr lang="en-US" sz="14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3D2317"/>
        </a:solidFill>
      </p:bgPr>
    </p:bg>
    <p:spTree>
      <p:nvGrpSpPr>
        <p:cNvPr id="1" name=""/>
        <p:cNvGrpSpPr/>
        <p:nvPr/>
      </p:nvGrpSpPr>
      <p:grpSpPr>
        <a:xfrm>
          <a:off x="0" y="0"/>
          <a:ext cx="0" cy="0"/>
          <a:chOff x="0" y="0"/>
          <a:chExt cx="0" cy="0"/>
        </a:xfrm>
      </p:grpSpPr>
      <p:sp>
        <p:nvSpPr>
          <p:cNvPr id="2" name="Text 0"/>
          <p:cNvSpPr/>
          <p:nvPr/>
        </p:nvSpPr>
        <p:spPr>
          <a:xfrm>
            <a:off x="762000" y="2032000"/>
            <a:ext cx="3810000" cy="1270000"/>
          </a:xfrm>
          <a:prstGeom prst="rect">
            <a:avLst/>
          </a:prstGeom>
          <a:noFill/>
          <a:ln/>
        </p:spPr>
        <p:txBody>
          <a:bodyPr wrap="none" lIns="0" tIns="0" rIns="0" bIns="0" rtlCol="0" anchor="ctr"/>
          <a:lstStyle/>
          <a:p>
            <a:pPr algn="l">
              <a:lnSpc>
                <a:spcPct val="100000"/>
              </a:lnSpc>
            </a:pPr>
            <a:r>
              <a:rPr lang="en-US" sz="9600" dirty="0">
                <a:solidFill>
                  <a:srgbClr val="B7410E"/>
                </a:solidFill>
                <a:latin typeface="思源宋体" pitchFamily="34" charset="0"/>
                <a:ea typeface="思源宋体" pitchFamily="34" charset="-122"/>
                <a:cs typeface="思源宋体" pitchFamily="34" charset="-120"/>
              </a:rPr>
              <a:t>०३</a:t>
            </a:r>
            <a:endParaRPr lang="en-US" sz="9600" dirty="0"/>
          </a:p>
        </p:txBody>
      </p:sp>
      <p:sp>
        <p:nvSpPr>
          <p:cNvPr id="3" name="Text 1"/>
          <p:cNvSpPr/>
          <p:nvPr/>
        </p:nvSpPr>
        <p:spPr>
          <a:xfrm>
            <a:off x="762000" y="3556000"/>
            <a:ext cx="11176000" cy="762000"/>
          </a:xfrm>
          <a:prstGeom prst="rect">
            <a:avLst/>
          </a:prstGeom>
          <a:noFill/>
          <a:ln/>
        </p:spPr>
        <p:txBody>
          <a:bodyPr wrap="none" lIns="0" tIns="0" rIns="0" bIns="0" rtlCol="0" anchor="ctr"/>
          <a:lstStyle/>
          <a:p>
            <a:pPr algn="l">
              <a:lnSpc>
                <a:spcPct val="120000"/>
              </a:lnSpc>
            </a:pPr>
            <a:r>
              <a:rPr lang="en-US" sz="4000" b="1" dirty="0">
                <a:solidFill>
                  <a:srgbClr val="FFFFFF"/>
                </a:solidFill>
                <a:latin typeface="思源宋体" pitchFamily="34" charset="0"/>
                <a:ea typeface="思源宋体" pitchFamily="34" charset="-122"/>
                <a:cs typeface="思源宋体" pitchFamily="34" charset="-120"/>
              </a:rPr>
              <a:t>एकताको आधार र चुनौतीहरू</a:t>
            </a:r>
            <a:endParaRPr lang="en-US" sz="4000" dirty="0"/>
          </a:p>
        </p:txBody>
      </p:sp>
      <p:sp>
        <p:nvSpPr>
          <p:cNvPr id="4" name="Shape 2"/>
          <p:cNvSpPr/>
          <p:nvPr/>
        </p:nvSpPr>
        <p:spPr>
          <a:xfrm>
            <a:off x="762000" y="4470400"/>
            <a:ext cx="2032000" cy="0"/>
          </a:xfrm>
          <a:prstGeom prst="straightConnector1">
            <a:avLst/>
          </a:prstGeom>
          <a:noFill/>
          <a:ln w="38100">
            <a:solidFill>
              <a:srgbClr val="B7410E"/>
            </a:solidFill>
            <a:prstDash val="solid"/>
            <a:headEnd type="none"/>
            <a:tailEnd type="none"/>
          </a:ln>
        </p:spPr>
      </p:sp>
      <p:sp>
        <p:nvSpPr>
          <p:cNvPr id="5" name="Text 3"/>
          <p:cNvSpPr/>
          <p:nvPr/>
        </p:nvSpPr>
        <p:spPr>
          <a:xfrm>
            <a:off x="762000" y="4762500"/>
            <a:ext cx="10160000" cy="508000"/>
          </a:xfrm>
          <a:prstGeom prst="rect">
            <a:avLst/>
          </a:prstGeom>
          <a:noFill/>
          <a:ln/>
        </p:spPr>
        <p:txBody>
          <a:bodyPr wrap="none" lIns="0" tIns="0" rIns="0" bIns="0" rtlCol="0" anchor="ctr"/>
          <a:lstStyle/>
          <a:p>
            <a:pPr algn="l">
              <a:lnSpc>
                <a:spcPct val="140000"/>
              </a:lnSpc>
            </a:pPr>
            <a:r>
              <a:rPr lang="en-US" sz="2000" dirty="0">
                <a:solidFill>
                  <a:srgbClr val="E8DFD0"/>
                </a:solidFill>
                <a:latin typeface="MiSans" pitchFamily="34" charset="0"/>
                <a:ea typeface="MiSans" pitchFamily="34" charset="-122"/>
                <a:cs typeface="MiSans" pitchFamily="34" charset="-120"/>
              </a:rPr>
              <a:t>राष्ट्रिय एकताका स्तम्भहरू र विद्यमान चुनौतीहरूको समीक्षा</a:t>
            </a:r>
            <a:endParaRPr lang="en-US" sz="2000" dirty="0"/>
          </a:p>
        </p:txBody>
      </p:sp>
      <p:sp>
        <p:nvSpPr>
          <p:cNvPr id="6" name="Shape 4"/>
          <p:cNvSpPr/>
          <p:nvPr/>
        </p:nvSpPr>
        <p:spPr>
          <a:xfrm>
            <a:off x="12446000" y="1524000"/>
            <a:ext cx="3048000" cy="2540000"/>
          </a:xfrm>
          <a:prstGeom prst="rect">
            <a:avLst/>
          </a:prstGeom>
          <a:solidFill>
            <a:srgbClr val="B7410E">
              <a:alpha val="12549"/>
            </a:srgbClr>
          </a:solidFill>
          <a:ln/>
        </p:spPr>
      </p:sp>
      <p:sp>
        <p:nvSpPr>
          <p:cNvPr id="7" name="Shape 5"/>
          <p:cNvSpPr/>
          <p:nvPr/>
        </p:nvSpPr>
        <p:spPr>
          <a:xfrm>
            <a:off x="13335000" y="3556000"/>
            <a:ext cx="2159000" cy="2032000"/>
          </a:xfrm>
          <a:prstGeom prst="rect">
            <a:avLst/>
          </a:prstGeom>
          <a:solidFill>
            <a:srgbClr val="B7410E">
              <a:alpha val="8235"/>
            </a:srgbClr>
          </a:solidFill>
          <a:ln/>
        </p:spPr>
      </p:sp>
      <p:sp>
        <p:nvSpPr>
          <p:cNvPr id="8" name="Shape 6"/>
          <p:cNvSpPr/>
          <p:nvPr/>
        </p:nvSpPr>
        <p:spPr>
          <a:xfrm>
            <a:off x="11938000" y="1270000"/>
            <a:ext cx="0" cy="6604000"/>
          </a:xfrm>
          <a:prstGeom prst="straightConnector1">
            <a:avLst/>
          </a:prstGeom>
          <a:noFill/>
          <a:ln w="12700">
            <a:solidFill>
              <a:srgbClr val="B7410E">
                <a:alpha val="18824"/>
              </a:srgbClr>
            </a:solidFill>
            <a:prstDash val="solid"/>
            <a:headEnd type="none"/>
            <a:tailEnd type="none"/>
          </a:ln>
        </p:spPr>
      </p:sp>
      <p:sp>
        <p:nvSpPr>
          <p:cNvPr id="9" name="Shape 7"/>
          <p:cNvSpPr/>
          <p:nvPr/>
        </p:nvSpPr>
        <p:spPr>
          <a:xfrm>
            <a:off x="0" y="8890000"/>
            <a:ext cx="16256000" cy="254000"/>
          </a:xfrm>
          <a:prstGeom prst="rect">
            <a:avLst/>
          </a:prstGeom>
          <a:solidFill>
            <a:srgbClr val="B7410E"/>
          </a:solidFill>
          <a:ln/>
        </p:spPr>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762000" y="660400"/>
            <a:ext cx="63500" cy="457200"/>
          </a:xfrm>
          <a:prstGeom prst="rect">
            <a:avLst/>
          </a:prstGeom>
          <a:solidFill>
            <a:srgbClr val="B7410E"/>
          </a:solidFill>
          <a:ln/>
        </p:spPr>
      </p:sp>
      <p:sp>
        <p:nvSpPr>
          <p:cNvPr id="3" name="Text 1"/>
          <p:cNvSpPr/>
          <p:nvPr/>
        </p:nvSpPr>
        <p:spPr>
          <a:xfrm>
            <a:off x="990600" y="609600"/>
            <a:ext cx="11430000" cy="558800"/>
          </a:xfrm>
          <a:prstGeom prst="rect">
            <a:avLst/>
          </a:prstGeom>
          <a:noFill/>
          <a:ln/>
        </p:spPr>
        <p:txBody>
          <a:bodyPr wrap="none" lIns="0" tIns="0" rIns="0" bIns="0" rtlCol="0" anchor="ctr"/>
          <a:lstStyle/>
          <a:p>
            <a:pPr algn="l">
              <a:lnSpc>
                <a:spcPct val="130000"/>
              </a:lnSpc>
            </a:pPr>
            <a:r>
              <a:rPr lang="en-US" sz="3000" b="1" dirty="0">
                <a:solidFill>
                  <a:srgbClr val="2C1810"/>
                </a:solidFill>
                <a:latin typeface="思源宋体" pitchFamily="34" charset="0"/>
                <a:ea typeface="思源宋体" pitchFamily="34" charset="-122"/>
                <a:cs typeface="思源宋体" pitchFamily="34" charset="-120"/>
              </a:rPr>
              <a:t>राष्ट्रिय एकताका स्तम्भहरू</a:t>
            </a:r>
            <a:endParaRPr lang="en-US" sz="3000" dirty="0"/>
          </a:p>
        </p:txBody>
      </p:sp>
      <p:sp>
        <p:nvSpPr>
          <p:cNvPr id="4" name="Shape 2"/>
          <p:cNvSpPr/>
          <p:nvPr/>
        </p:nvSpPr>
        <p:spPr>
          <a:xfrm>
            <a:off x="990600" y="1219200"/>
            <a:ext cx="2540000" cy="0"/>
          </a:xfrm>
          <a:prstGeom prst="straightConnector1">
            <a:avLst/>
          </a:prstGeom>
          <a:noFill/>
          <a:ln w="25400">
            <a:solidFill>
              <a:srgbClr val="B7410E"/>
            </a:solidFill>
            <a:prstDash val="solid"/>
            <a:headEnd type="none"/>
            <a:tailEnd type="none"/>
          </a:ln>
        </p:spPr>
      </p:sp>
      <p:sp>
        <p:nvSpPr>
          <p:cNvPr id="5" name="Text 3"/>
          <p:cNvSpPr/>
          <p:nvPr/>
        </p:nvSpPr>
        <p:spPr>
          <a:xfrm>
            <a:off x="990600" y="1498600"/>
            <a:ext cx="14274800" cy="2159000"/>
          </a:xfrm>
          <a:prstGeom prst="rect">
            <a:avLst/>
          </a:prstGeom>
          <a:noFill/>
          <a:ln/>
        </p:spPr>
        <p:txBody>
          <a:bodyPr wrap="square" lIns="0" tIns="0" rIns="0" bIns="0" rtlCol="0" anchor="t"/>
          <a:lstStyle/>
          <a:p>
            <a:pPr algn="l">
              <a:lnSpc>
                <a:spcPct val="175000"/>
              </a:lnSpc>
            </a:pPr>
            <a:r>
              <a:rPr lang="en-US" sz="1900" dirty="0">
                <a:solidFill>
                  <a:srgbClr val="2C1810"/>
                </a:solidFill>
                <a:latin typeface="MiSans" pitchFamily="34" charset="0"/>
                <a:ea typeface="MiSans" pitchFamily="34" charset="-122"/>
                <a:cs typeface="MiSans" pitchFamily="34" charset="-120"/>
              </a:rPr>
              <a:t>नेपालको राष्ट्रिय एकताका मुख्य स्तम्भहरू — </a:t>
            </a:r>
            <a:pPr algn="l">
              <a:lnSpc>
                <a:spcPct val="175000"/>
              </a:lnSpc>
            </a:pPr>
            <a:r>
              <a:rPr lang="en-US" sz="1900" b="1" dirty="0">
                <a:solidFill>
                  <a:srgbClr val="2C1810"/>
                </a:solidFill>
                <a:latin typeface="MiSans" pitchFamily="34" charset="0"/>
                <a:ea typeface="MiSans" pitchFamily="34" charset="-122"/>
                <a:cs typeface="MiSans" pitchFamily="34" charset="-120"/>
              </a:rPr>
              <a:t>संविधान, राष्ट्रिय भाषा नेपाली, साझा संस्कृति र ऐतिहासिक एकताको भावना</a:t>
            </a:r>
            <a:pPr algn="l">
              <a:lnSpc>
                <a:spcPct val="175000"/>
              </a:lnSpc>
            </a:pPr>
            <a:r>
              <a:rPr lang="en-US" sz="1900" dirty="0">
                <a:solidFill>
                  <a:srgbClr val="2C1810"/>
                </a:solidFill>
                <a:latin typeface="MiSans" pitchFamily="34" charset="0"/>
                <a:ea typeface="MiSans" pitchFamily="34" charset="-122"/>
                <a:cs typeface="MiSans" pitchFamily="34" charset="-120"/>
              </a:rPr>
              <a:t> — हुन्। संविधान २०७२ ले सबै जातजाति, भाषा र संस्कृतिको संरक्षण र सम्वर्द्धनको प्रत्याभूति गरेको छ। नेपाली भाषा विभिन्न भाषिक समुदायबीच सञ्चारको माध्यम बनेको छ। प्रजातान्त्रिक आन्दोलन, संयुक्त राष्ट्रिय आन्दोलन र विभिन्न सामाजिक परिवर्तनका आन्दोलनहरूले नेपाली जनतालाई एकताको सूत्रमा बाँध्ने काम गरेको छ।</a:t>
            </a:r>
            <a:endParaRPr lang="en-US" sz="1900" dirty="0"/>
          </a:p>
        </p:txBody>
      </p:sp>
      <p:sp>
        <p:nvSpPr>
          <p:cNvPr id="6" name="Shape 4"/>
          <p:cNvSpPr/>
          <p:nvPr/>
        </p:nvSpPr>
        <p:spPr>
          <a:xfrm>
            <a:off x="990600" y="3873500"/>
            <a:ext cx="3238500" cy="2413000"/>
          </a:xfrm>
          <a:prstGeom prst="rect">
            <a:avLst/>
          </a:prstGeom>
          <a:solidFill>
            <a:srgbClr val="FFFFFF"/>
          </a:solidFill>
          <a:ln w="12700">
            <a:solidFill>
              <a:srgbClr val="E8DFD0"/>
            </a:solidFill>
            <a:prstDash val="solid"/>
          </a:ln>
        </p:spPr>
      </p:sp>
      <p:sp>
        <p:nvSpPr>
          <p:cNvPr id="7" name="Shape 5"/>
          <p:cNvSpPr/>
          <p:nvPr/>
        </p:nvSpPr>
        <p:spPr>
          <a:xfrm>
            <a:off x="990600" y="3873500"/>
            <a:ext cx="3238500" cy="63500"/>
          </a:xfrm>
          <a:prstGeom prst="rect">
            <a:avLst/>
          </a:prstGeom>
          <a:solidFill>
            <a:srgbClr val="B7410E"/>
          </a:solidFill>
          <a:ln/>
        </p:spPr>
      </p:sp>
      <p:sp>
        <p:nvSpPr>
          <p:cNvPr id="8" name="Text 6"/>
          <p:cNvSpPr/>
          <p:nvPr/>
        </p:nvSpPr>
        <p:spPr>
          <a:xfrm>
            <a:off x="1193800" y="4038600"/>
            <a:ext cx="2832100" cy="355600"/>
          </a:xfrm>
          <a:prstGeom prst="rect">
            <a:avLst/>
          </a:prstGeom>
          <a:noFill/>
          <a:ln/>
        </p:spPr>
        <p:txBody>
          <a:bodyPr wrap="none" lIns="0" tIns="0" rIns="0" bIns="0" rtlCol="0" anchor="ctr"/>
          <a:lstStyle/>
          <a:p>
            <a:pPr algn="l">
              <a:lnSpc>
                <a:spcPct val="120000"/>
              </a:lnSpc>
            </a:pPr>
            <a:r>
              <a:rPr lang="en-US" sz="2000" b="1" dirty="0">
                <a:solidFill>
                  <a:srgbClr val="B7410E"/>
                </a:solidFill>
                <a:latin typeface="思源宋体" pitchFamily="34" charset="0"/>
                <a:ea typeface="思源宋体" pitchFamily="34" charset="-122"/>
                <a:cs typeface="思源宋体" pitchFamily="34" charset="-120"/>
              </a:rPr>
              <a:t>संविधान</a:t>
            </a:r>
            <a:endParaRPr lang="en-US" sz="2000" dirty="0"/>
          </a:p>
        </p:txBody>
      </p:sp>
      <p:sp>
        <p:nvSpPr>
          <p:cNvPr id="9" name="Text 7"/>
          <p:cNvSpPr/>
          <p:nvPr/>
        </p:nvSpPr>
        <p:spPr>
          <a:xfrm>
            <a:off x="1193800" y="4445000"/>
            <a:ext cx="2832100" cy="1651000"/>
          </a:xfrm>
          <a:prstGeom prst="rect">
            <a:avLst/>
          </a:prstGeom>
          <a:noFill/>
          <a:ln/>
        </p:spPr>
        <p:txBody>
          <a:bodyPr wrap="square" lIns="0" tIns="0" rIns="0" bIns="0" rtlCol="0" anchor="t"/>
          <a:lstStyle/>
          <a:p>
            <a:pPr algn="l">
              <a:lnSpc>
                <a:spcPct val="150000"/>
              </a:lnSpc>
            </a:pPr>
            <a:r>
              <a:rPr lang="en-US" sz="1400" dirty="0">
                <a:solidFill>
                  <a:srgbClr val="2C1810"/>
                </a:solidFill>
                <a:latin typeface="MiSans" pitchFamily="34" charset="0"/>
                <a:ea typeface="MiSans" pitchFamily="34" charset="-122"/>
                <a:cs typeface="MiSans" pitchFamily="34" charset="-120"/>
              </a:rPr>
              <a:t>संविधान २०७२ ले सबै जातजाति र भाषाको संरक्षणको ग्यारेन्टी गरेको छ। संघीय लोकतान्त्रिक गणतन्त्रले विविधतालाई स्थान दिएको छ।</a:t>
            </a:r>
            <a:endParaRPr lang="en-US" sz="1400" dirty="0"/>
          </a:p>
        </p:txBody>
      </p:sp>
      <p:sp>
        <p:nvSpPr>
          <p:cNvPr id="10" name="Shape 8"/>
          <p:cNvSpPr/>
          <p:nvPr/>
        </p:nvSpPr>
        <p:spPr>
          <a:xfrm>
            <a:off x="4546600" y="3873500"/>
            <a:ext cx="3238500" cy="2413000"/>
          </a:xfrm>
          <a:prstGeom prst="rect">
            <a:avLst/>
          </a:prstGeom>
          <a:solidFill>
            <a:srgbClr val="FFFFFF"/>
          </a:solidFill>
          <a:ln w="12700">
            <a:solidFill>
              <a:srgbClr val="E8DFD0"/>
            </a:solidFill>
            <a:prstDash val="solid"/>
          </a:ln>
        </p:spPr>
      </p:sp>
      <p:sp>
        <p:nvSpPr>
          <p:cNvPr id="11" name="Shape 9"/>
          <p:cNvSpPr/>
          <p:nvPr/>
        </p:nvSpPr>
        <p:spPr>
          <a:xfrm>
            <a:off x="4546600" y="3873500"/>
            <a:ext cx="3238500" cy="63500"/>
          </a:xfrm>
          <a:prstGeom prst="rect">
            <a:avLst/>
          </a:prstGeom>
          <a:solidFill>
            <a:srgbClr val="B7410E"/>
          </a:solidFill>
          <a:ln/>
        </p:spPr>
      </p:sp>
      <p:sp>
        <p:nvSpPr>
          <p:cNvPr id="12" name="Text 10"/>
          <p:cNvSpPr/>
          <p:nvPr/>
        </p:nvSpPr>
        <p:spPr>
          <a:xfrm>
            <a:off x="4749800" y="4038600"/>
            <a:ext cx="2832100" cy="355600"/>
          </a:xfrm>
          <a:prstGeom prst="rect">
            <a:avLst/>
          </a:prstGeom>
          <a:noFill/>
          <a:ln/>
        </p:spPr>
        <p:txBody>
          <a:bodyPr wrap="none" lIns="0" tIns="0" rIns="0" bIns="0" rtlCol="0" anchor="ctr"/>
          <a:lstStyle/>
          <a:p>
            <a:pPr algn="l">
              <a:lnSpc>
                <a:spcPct val="120000"/>
              </a:lnSpc>
            </a:pPr>
            <a:r>
              <a:rPr lang="en-US" sz="1500" b="1" dirty="0">
                <a:solidFill>
                  <a:srgbClr val="B7410E"/>
                </a:solidFill>
                <a:latin typeface="思源宋体" pitchFamily="34" charset="0"/>
                <a:ea typeface="思源宋体" pitchFamily="34" charset="-122"/>
                <a:cs typeface="思源宋体" pitchFamily="34" charset="-120"/>
              </a:rPr>
              <a:t>राष्ट्रिय भाषा</a:t>
            </a:r>
            <a:endParaRPr lang="en-US" sz="1500" dirty="0"/>
          </a:p>
        </p:txBody>
      </p:sp>
      <p:sp>
        <p:nvSpPr>
          <p:cNvPr id="13" name="Text 11"/>
          <p:cNvSpPr/>
          <p:nvPr/>
        </p:nvSpPr>
        <p:spPr>
          <a:xfrm>
            <a:off x="4749800" y="4445000"/>
            <a:ext cx="2832100" cy="1651000"/>
          </a:xfrm>
          <a:prstGeom prst="rect">
            <a:avLst/>
          </a:prstGeom>
          <a:noFill/>
          <a:ln/>
        </p:spPr>
        <p:txBody>
          <a:bodyPr wrap="square" lIns="0" tIns="0" rIns="0" bIns="0" rtlCol="0" anchor="t"/>
          <a:lstStyle/>
          <a:p>
            <a:pPr algn="l">
              <a:lnSpc>
                <a:spcPct val="150000"/>
              </a:lnSpc>
            </a:pPr>
            <a:r>
              <a:rPr lang="en-US" sz="1400" dirty="0">
                <a:solidFill>
                  <a:srgbClr val="2C1810"/>
                </a:solidFill>
                <a:latin typeface="MiSans" pitchFamily="34" charset="0"/>
                <a:ea typeface="MiSans" pitchFamily="34" charset="-122"/>
                <a:cs typeface="MiSans" pitchFamily="34" charset="-120"/>
              </a:rPr>
              <a:t>नेपाली भाषाले विभिन्न भाषिक समुदायबीच सञ्चारको पुलको काम गरेको छ। यो सबै नेपालीको साझा भाषा हो।</a:t>
            </a:r>
            <a:endParaRPr lang="en-US" sz="1400" dirty="0"/>
          </a:p>
        </p:txBody>
      </p:sp>
      <p:sp>
        <p:nvSpPr>
          <p:cNvPr id="14" name="Shape 12"/>
          <p:cNvSpPr/>
          <p:nvPr/>
        </p:nvSpPr>
        <p:spPr>
          <a:xfrm>
            <a:off x="8102600" y="3873500"/>
            <a:ext cx="3238500" cy="2413000"/>
          </a:xfrm>
          <a:prstGeom prst="rect">
            <a:avLst/>
          </a:prstGeom>
          <a:solidFill>
            <a:srgbClr val="FFFFFF"/>
          </a:solidFill>
          <a:ln w="12700">
            <a:solidFill>
              <a:srgbClr val="E8DFD0"/>
            </a:solidFill>
            <a:prstDash val="solid"/>
          </a:ln>
        </p:spPr>
      </p:sp>
      <p:sp>
        <p:nvSpPr>
          <p:cNvPr id="15" name="Shape 13"/>
          <p:cNvSpPr/>
          <p:nvPr/>
        </p:nvSpPr>
        <p:spPr>
          <a:xfrm>
            <a:off x="8102600" y="3873500"/>
            <a:ext cx="3238500" cy="63500"/>
          </a:xfrm>
          <a:prstGeom prst="rect">
            <a:avLst/>
          </a:prstGeom>
          <a:solidFill>
            <a:srgbClr val="B7410E"/>
          </a:solidFill>
          <a:ln/>
        </p:spPr>
      </p:sp>
      <p:sp>
        <p:nvSpPr>
          <p:cNvPr id="16" name="Text 14"/>
          <p:cNvSpPr/>
          <p:nvPr/>
        </p:nvSpPr>
        <p:spPr>
          <a:xfrm>
            <a:off x="8305800" y="4038600"/>
            <a:ext cx="2832100" cy="355600"/>
          </a:xfrm>
          <a:prstGeom prst="rect">
            <a:avLst/>
          </a:prstGeom>
          <a:noFill/>
          <a:ln/>
        </p:spPr>
        <p:txBody>
          <a:bodyPr wrap="none" lIns="0" tIns="0" rIns="0" bIns="0" rtlCol="0" anchor="ctr"/>
          <a:lstStyle/>
          <a:p>
            <a:pPr algn="l">
              <a:lnSpc>
                <a:spcPct val="120000"/>
              </a:lnSpc>
            </a:pPr>
            <a:r>
              <a:rPr lang="en-US" sz="1600" b="1" dirty="0">
                <a:solidFill>
                  <a:srgbClr val="B7410E"/>
                </a:solidFill>
                <a:latin typeface="思源宋体" pitchFamily="34" charset="0"/>
                <a:ea typeface="思源宋体" pitchFamily="34" charset="-122"/>
                <a:cs typeface="思源宋体" pitchFamily="34" charset="-120"/>
              </a:rPr>
              <a:t>साझा संस्कृति</a:t>
            </a:r>
            <a:endParaRPr lang="en-US" sz="1600" dirty="0"/>
          </a:p>
        </p:txBody>
      </p:sp>
      <p:sp>
        <p:nvSpPr>
          <p:cNvPr id="17" name="Text 15"/>
          <p:cNvSpPr/>
          <p:nvPr/>
        </p:nvSpPr>
        <p:spPr>
          <a:xfrm>
            <a:off x="8305800" y="4445000"/>
            <a:ext cx="2832100" cy="1651000"/>
          </a:xfrm>
          <a:prstGeom prst="rect">
            <a:avLst/>
          </a:prstGeom>
          <a:noFill/>
          <a:ln/>
        </p:spPr>
        <p:txBody>
          <a:bodyPr wrap="square" lIns="0" tIns="0" rIns="0" bIns="0" rtlCol="0" anchor="t"/>
          <a:lstStyle/>
          <a:p>
            <a:pPr algn="l">
              <a:lnSpc>
                <a:spcPct val="150000"/>
              </a:lnSpc>
            </a:pPr>
            <a:r>
              <a:rPr lang="en-US" sz="1400" dirty="0">
                <a:solidFill>
                  <a:srgbClr val="2C1810"/>
                </a:solidFill>
                <a:latin typeface="MiSans" pitchFamily="34" charset="0"/>
                <a:ea typeface="MiSans" pitchFamily="34" charset="-122"/>
                <a:cs typeface="MiSans" pitchFamily="34" charset="-120"/>
              </a:rPr>
              <a:t>दसैं, तिहार लगायतका चाडपर्व सबै नेपालीले मनाउने साझा संस्कृतिको प्रतीक हुन्। यीले सद्भाव र भाइचारा अभिवृद्धि गर्छन्।</a:t>
            </a:r>
            <a:endParaRPr lang="en-US" sz="1400" dirty="0"/>
          </a:p>
        </p:txBody>
      </p:sp>
      <p:sp>
        <p:nvSpPr>
          <p:cNvPr id="18" name="Shape 16"/>
          <p:cNvSpPr/>
          <p:nvPr/>
        </p:nvSpPr>
        <p:spPr>
          <a:xfrm>
            <a:off x="11658600" y="3873500"/>
            <a:ext cx="3606800" cy="2413000"/>
          </a:xfrm>
          <a:prstGeom prst="rect">
            <a:avLst/>
          </a:prstGeom>
          <a:solidFill>
            <a:srgbClr val="FFFFFF"/>
          </a:solidFill>
          <a:ln w="12700">
            <a:solidFill>
              <a:srgbClr val="E8DFD0"/>
            </a:solidFill>
            <a:prstDash val="solid"/>
          </a:ln>
        </p:spPr>
      </p:sp>
      <p:sp>
        <p:nvSpPr>
          <p:cNvPr id="19" name="Shape 17"/>
          <p:cNvSpPr/>
          <p:nvPr/>
        </p:nvSpPr>
        <p:spPr>
          <a:xfrm>
            <a:off x="11658600" y="3873500"/>
            <a:ext cx="3606800" cy="63500"/>
          </a:xfrm>
          <a:prstGeom prst="rect">
            <a:avLst/>
          </a:prstGeom>
          <a:solidFill>
            <a:srgbClr val="B7410E"/>
          </a:solidFill>
          <a:ln/>
        </p:spPr>
      </p:sp>
      <p:sp>
        <p:nvSpPr>
          <p:cNvPr id="20" name="Text 18"/>
          <p:cNvSpPr/>
          <p:nvPr/>
        </p:nvSpPr>
        <p:spPr>
          <a:xfrm>
            <a:off x="11861800" y="4038600"/>
            <a:ext cx="3200400" cy="355600"/>
          </a:xfrm>
          <a:prstGeom prst="rect">
            <a:avLst/>
          </a:prstGeom>
          <a:noFill/>
          <a:ln/>
        </p:spPr>
        <p:txBody>
          <a:bodyPr wrap="none" lIns="0" tIns="0" rIns="0" bIns="0" rtlCol="0" anchor="ctr"/>
          <a:lstStyle/>
          <a:p>
            <a:pPr algn="l">
              <a:lnSpc>
                <a:spcPct val="120000"/>
              </a:lnSpc>
            </a:pPr>
            <a:r>
              <a:rPr lang="en-US" sz="1800" b="1" dirty="0">
                <a:solidFill>
                  <a:srgbClr val="B7410E"/>
                </a:solidFill>
                <a:latin typeface="思源宋体" pitchFamily="34" charset="0"/>
                <a:ea typeface="思源宋体" pitchFamily="34" charset="-122"/>
                <a:cs typeface="思源宋体" pitchFamily="34" charset="-120"/>
              </a:rPr>
              <a:t>ऐतिहासिक एकता</a:t>
            </a:r>
            <a:endParaRPr lang="en-US" sz="1800" dirty="0"/>
          </a:p>
        </p:txBody>
      </p:sp>
      <p:sp>
        <p:nvSpPr>
          <p:cNvPr id="21" name="Text 19"/>
          <p:cNvSpPr/>
          <p:nvPr/>
        </p:nvSpPr>
        <p:spPr>
          <a:xfrm>
            <a:off x="11861800" y="4445000"/>
            <a:ext cx="3200400" cy="1651000"/>
          </a:xfrm>
          <a:prstGeom prst="rect">
            <a:avLst/>
          </a:prstGeom>
          <a:noFill/>
          <a:ln/>
        </p:spPr>
        <p:txBody>
          <a:bodyPr wrap="square" lIns="0" tIns="0" rIns="0" bIns="0" rtlCol="0" anchor="t"/>
          <a:lstStyle/>
          <a:p>
            <a:pPr algn="l">
              <a:lnSpc>
                <a:spcPct val="150000"/>
              </a:lnSpc>
            </a:pPr>
            <a:r>
              <a:rPr lang="en-US" sz="1400" dirty="0">
                <a:solidFill>
                  <a:srgbClr val="2C1810"/>
                </a:solidFill>
                <a:latin typeface="MiSans" pitchFamily="34" charset="0"/>
                <a:ea typeface="MiSans" pitchFamily="34" charset="-122"/>
                <a:cs typeface="MiSans" pitchFamily="34" charset="-120"/>
              </a:rPr>
              <a:t>प्रजातान्त्रिक आन्दोलनहरूले नेपाली जनतालाई एकताको सूत्रमा बाँधेको छ। साझा संघर्षले राष्ट्रिय पहिचान प्रदान गरेको छ।</a:t>
            </a:r>
            <a:endParaRPr lang="en-US" sz="1400" dirty="0"/>
          </a:p>
        </p:txBody>
      </p:sp>
      <p:sp>
        <p:nvSpPr>
          <p:cNvPr id="22" name="Text 20"/>
          <p:cNvSpPr/>
          <p:nvPr/>
        </p:nvSpPr>
        <p:spPr>
          <a:xfrm>
            <a:off x="990600" y="6477000"/>
            <a:ext cx="14274800" cy="1778000"/>
          </a:xfrm>
          <a:prstGeom prst="rect">
            <a:avLst/>
          </a:prstGeom>
          <a:noFill/>
          <a:ln/>
        </p:spPr>
        <p:txBody>
          <a:bodyPr wrap="square" lIns="0" tIns="0" rIns="0" bIns="0" rtlCol="0" anchor="t"/>
          <a:lstStyle/>
          <a:p>
            <a:pPr algn="l">
              <a:lnSpc>
                <a:spcPct val="170000"/>
              </a:lnSpc>
            </a:pPr>
            <a:r>
              <a:rPr lang="en-US" sz="1900" dirty="0">
                <a:solidFill>
                  <a:srgbClr val="2C1810"/>
                </a:solidFill>
                <a:latin typeface="MiSans" pitchFamily="34" charset="0"/>
                <a:ea typeface="MiSans" pitchFamily="34" charset="-122"/>
                <a:cs typeface="MiSans" pitchFamily="34" charset="-120"/>
              </a:rPr>
              <a:t>गौरवमय इतिहास, साझा संघर्ष र भावी सपनाले नेपालीहरूलाई एउटै राष्ट्रिय पहिचान प्रदान गरेको छ। विभिन्न जातजातिहरूबीच विवाह, सांस्कृतिक आदानप्रदान र साझा उत्सवहरूले नेपाली समाजलाई एउटा मजबुत सूत्रमा बाँधेको छ। यो सामाजिक एकता नै नेपालको सबैभन्दा ठूलो शक्ति हो।</a:t>
            </a:r>
            <a:endParaRPr lang="en-US" sz="1900" dirty="0"/>
          </a:p>
        </p:txBody>
      </p:sp>
      <p:sp>
        <p:nvSpPr>
          <p:cNvPr id="23" name="Shape 21"/>
          <p:cNvSpPr/>
          <p:nvPr/>
        </p:nvSpPr>
        <p:spPr>
          <a:xfrm>
            <a:off x="762000" y="8636000"/>
            <a:ext cx="14732000" cy="0"/>
          </a:xfrm>
          <a:prstGeom prst="straightConnector1">
            <a:avLst/>
          </a:prstGeom>
          <a:noFill/>
          <a:ln w="12700">
            <a:solidFill>
              <a:srgbClr val="E8DFD0"/>
            </a:solidFill>
            <a:prstDash val="solid"/>
            <a:headEnd type="none"/>
            <a:tailEnd type="none"/>
          </a:ln>
        </p:spPr>
      </p:sp>
      <p:sp>
        <p:nvSpPr>
          <p:cNvPr id="24" name="Text 22"/>
          <p:cNvSpPr/>
          <p:nvPr/>
        </p:nvSpPr>
        <p:spPr>
          <a:xfrm>
            <a:off x="14732000" y="8699500"/>
            <a:ext cx="762000" cy="304800"/>
          </a:xfrm>
          <a:prstGeom prst="rect">
            <a:avLst/>
          </a:prstGeom>
          <a:noFill/>
          <a:ln/>
        </p:spPr>
        <p:txBody>
          <a:bodyPr wrap="none" lIns="0" tIns="0" rIns="0" bIns="0" rtlCol="0" anchor="ctr"/>
          <a:lstStyle/>
          <a:p>
            <a:pPr algn="r">
              <a:lnSpc>
                <a:spcPct val="140000"/>
              </a:lnSpc>
            </a:pPr>
            <a:r>
              <a:rPr lang="en-US" sz="1400" dirty="0">
                <a:solidFill>
                  <a:srgbClr val="8B7355"/>
                </a:solidFill>
                <a:latin typeface="MiSans" pitchFamily="34" charset="0"/>
                <a:ea typeface="MiSans" pitchFamily="34" charset="-122"/>
                <a:cs typeface="MiSans" pitchFamily="34" charset="-120"/>
              </a:rPr>
              <a:t>१०</a:t>
            </a:r>
            <a:endParaRPr lang="en-US" sz="14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762000" y="660400"/>
            <a:ext cx="63500" cy="457200"/>
          </a:xfrm>
          <a:prstGeom prst="rect">
            <a:avLst/>
          </a:prstGeom>
          <a:solidFill>
            <a:srgbClr val="B7410E"/>
          </a:solidFill>
          <a:ln/>
        </p:spPr>
      </p:sp>
      <p:sp>
        <p:nvSpPr>
          <p:cNvPr id="3" name="Text 1"/>
          <p:cNvSpPr/>
          <p:nvPr/>
        </p:nvSpPr>
        <p:spPr>
          <a:xfrm>
            <a:off x="990600" y="609600"/>
            <a:ext cx="14224000" cy="558800"/>
          </a:xfrm>
          <a:prstGeom prst="rect">
            <a:avLst/>
          </a:prstGeom>
          <a:noFill/>
          <a:ln/>
        </p:spPr>
        <p:txBody>
          <a:bodyPr wrap="none" lIns="0" tIns="0" rIns="0" bIns="0" rtlCol="0" anchor="ctr"/>
          <a:lstStyle/>
          <a:p>
            <a:pPr algn="l">
              <a:lnSpc>
                <a:spcPct val="130000"/>
              </a:lnSpc>
            </a:pPr>
            <a:r>
              <a:rPr lang="en-US" sz="3000" b="1" dirty="0">
                <a:solidFill>
                  <a:srgbClr val="2C1810"/>
                </a:solidFill>
                <a:latin typeface="思源宋体" pitchFamily="34" charset="0"/>
                <a:ea typeface="思源宋体" pitchFamily="34" charset="-122"/>
                <a:cs typeface="思源宋体" pitchFamily="34" charset="-120"/>
              </a:rPr>
              <a:t>विद्यमान चुनौतीहरू र समाधानका उपायहरू</a:t>
            </a:r>
            <a:endParaRPr lang="en-US" sz="3000" dirty="0"/>
          </a:p>
        </p:txBody>
      </p:sp>
      <p:sp>
        <p:nvSpPr>
          <p:cNvPr id="4" name="Shape 2"/>
          <p:cNvSpPr/>
          <p:nvPr/>
        </p:nvSpPr>
        <p:spPr>
          <a:xfrm>
            <a:off x="990600" y="1219200"/>
            <a:ext cx="2540000" cy="0"/>
          </a:xfrm>
          <a:prstGeom prst="straightConnector1">
            <a:avLst/>
          </a:prstGeom>
          <a:noFill/>
          <a:ln w="25400">
            <a:solidFill>
              <a:srgbClr val="B7410E"/>
            </a:solidFill>
            <a:prstDash val="solid"/>
            <a:headEnd type="none"/>
            <a:tailEnd type="none"/>
          </a:ln>
        </p:spPr>
      </p:sp>
      <p:sp>
        <p:nvSpPr>
          <p:cNvPr id="5" name="Text 3"/>
          <p:cNvSpPr/>
          <p:nvPr/>
        </p:nvSpPr>
        <p:spPr>
          <a:xfrm>
            <a:off x="990600" y="1498600"/>
            <a:ext cx="6858000" cy="381000"/>
          </a:xfrm>
          <a:prstGeom prst="rect">
            <a:avLst/>
          </a:prstGeom>
          <a:noFill/>
          <a:ln/>
        </p:spPr>
        <p:txBody>
          <a:bodyPr wrap="none" lIns="0" tIns="0" rIns="0" bIns="0" rtlCol="0" anchor="ctr"/>
          <a:lstStyle/>
          <a:p>
            <a:pPr algn="l">
              <a:lnSpc>
                <a:spcPct val="120000"/>
              </a:lnSpc>
            </a:pPr>
            <a:r>
              <a:rPr lang="en-US" sz="2200" b="1" dirty="0">
                <a:solidFill>
                  <a:srgbClr val="B7410E"/>
                </a:solidFill>
                <a:latin typeface="思源宋体" pitchFamily="34" charset="0"/>
                <a:ea typeface="思源宋体" pitchFamily="34" charset="-122"/>
                <a:cs typeface="思源宋体" pitchFamily="34" charset="-120"/>
              </a:rPr>
              <a:t>विद्यमान चुनौतीहरू</a:t>
            </a:r>
            <a:endParaRPr lang="en-US" sz="2200" dirty="0"/>
          </a:p>
        </p:txBody>
      </p:sp>
      <p:sp>
        <p:nvSpPr>
          <p:cNvPr id="6" name="Text 4"/>
          <p:cNvSpPr/>
          <p:nvPr/>
        </p:nvSpPr>
        <p:spPr>
          <a:xfrm>
            <a:off x="990600" y="2006600"/>
            <a:ext cx="6858000" cy="4038600"/>
          </a:xfrm>
          <a:prstGeom prst="rect">
            <a:avLst/>
          </a:prstGeom>
          <a:noFill/>
          <a:ln/>
        </p:spPr>
        <p:txBody>
          <a:bodyPr wrap="square" lIns="0" tIns="0" rIns="0" bIns="0" rtlCol="0" anchor="t"/>
          <a:lstStyle/>
          <a:p>
            <a:pPr algn="l">
              <a:lnSpc>
                <a:spcPct val="155000"/>
              </a:lnSpc>
            </a:pPr>
            <a:r>
              <a:rPr lang="en-US" sz="1600" b="1" dirty="0">
                <a:solidFill>
                  <a:srgbClr val="2C1810"/>
                </a:solidFill>
                <a:latin typeface="MiSans" pitchFamily="34" charset="0"/>
                <a:ea typeface="MiSans" pitchFamily="34" charset="-122"/>
                <a:cs typeface="MiSans" pitchFamily="34" charset="-120"/>
              </a:rPr>
              <a:t>१. सामाजिक द्वन्द्व:</a:t>
            </a:r>
            <a:pPr algn="l">
              <a:lnSpc>
                <a:spcPct val="155000"/>
              </a:lnSpc>
            </a:pPr>
            <a:r>
              <a:rPr lang="en-US" sz="1600" dirty="0">
                <a:solidFill>
                  <a:srgbClr val="2C1810"/>
                </a:solidFill>
                <a:latin typeface="MiSans" pitchFamily="34" charset="0"/>
                <a:ea typeface="MiSans" pitchFamily="34" charset="-122"/>
                <a:cs typeface="MiSans" pitchFamily="34" charset="-120"/>
              </a:rPr>
              <a:t> जातीय, क्षेत्रीय र भाषिक आधारमा उत्पन्न द्वन्द्वहरू एकताको मुख्य चुनौती हुन्।</a:t>
            </a:r>
            <a:endParaRPr lang="en-US" sz="1600" dirty="0"/>
          </a:p>
          <a:p>
            <a:pPr algn="l">
              <a:lnSpc>
                <a:spcPct val="155000"/>
              </a:lnSpc>
              <a:spcBef>
                <a:spcPts val="400"/>
              </a:spcBef>
            </a:pPr>
            <a:r>
              <a:rPr lang="en-US" sz="1600" b="1" dirty="0">
                <a:solidFill>
                  <a:srgbClr val="2C1810"/>
                </a:solidFill>
                <a:latin typeface="MiSans" pitchFamily="34" charset="0"/>
                <a:ea typeface="MiSans" pitchFamily="34" charset="-122"/>
                <a:cs typeface="MiSans" pitchFamily="34" charset="-120"/>
              </a:rPr>
              <a:t>२. राजनीतिक अस्थिरता:</a:t>
            </a:r>
            <a:pPr algn="l">
              <a:lnSpc>
                <a:spcPct val="155000"/>
              </a:lnSpc>
              <a:spcBef>
                <a:spcPts val="400"/>
              </a:spcBef>
            </a:pPr>
            <a:r>
              <a:rPr lang="en-US" sz="1600" dirty="0">
                <a:solidFill>
                  <a:srgbClr val="2C1810"/>
                </a:solidFill>
                <a:latin typeface="MiSans" pitchFamily="34" charset="0"/>
                <a:ea typeface="MiSans" pitchFamily="34" charset="-122"/>
                <a:cs typeface="MiSans" pitchFamily="34" charset="-120"/>
              </a:rPr>
              <a:t> परिवर्तन हुने राजनीतिक परिदृश्यले दीर्घकालीन एकता नीतिको अभाव सिर्जना गरेको छ।</a:t>
            </a:r>
            <a:endParaRPr lang="en-US" sz="1600" dirty="0"/>
          </a:p>
          <a:p>
            <a:pPr algn="l">
              <a:lnSpc>
                <a:spcPct val="155000"/>
              </a:lnSpc>
              <a:spcBef>
                <a:spcPts val="400"/>
              </a:spcBef>
            </a:pPr>
            <a:r>
              <a:rPr lang="en-US" sz="1600" b="1" dirty="0">
                <a:solidFill>
                  <a:srgbClr val="2C1810"/>
                </a:solidFill>
                <a:latin typeface="MiSans" pitchFamily="34" charset="0"/>
                <a:ea typeface="MiSans" pitchFamily="34" charset="-122"/>
                <a:cs typeface="MiSans" pitchFamily="34" charset="-120"/>
              </a:rPr>
              <a:t>३. आर्थिक असमानता:</a:t>
            </a:r>
            <a:pPr algn="l">
              <a:lnSpc>
                <a:spcPct val="155000"/>
              </a:lnSpc>
              <a:spcBef>
                <a:spcPts val="400"/>
              </a:spcBef>
            </a:pPr>
            <a:r>
              <a:rPr lang="en-US" sz="1600" dirty="0">
                <a:solidFill>
                  <a:srgbClr val="2C1810"/>
                </a:solidFill>
                <a:latin typeface="MiSans" pitchFamily="34" charset="0"/>
                <a:ea typeface="MiSans" pitchFamily="34" charset="-122"/>
                <a:cs typeface="MiSans" pitchFamily="34" charset="-120"/>
              </a:rPr>
              <a:t> क्षेत्रीय र सामाजिक आधारमा रहेको आर्थिक खाडलले एकतामा चुनौती थपेको छ।</a:t>
            </a:r>
            <a:endParaRPr lang="en-US" sz="1600" dirty="0"/>
          </a:p>
          <a:p>
            <a:pPr algn="l">
              <a:lnSpc>
                <a:spcPct val="155000"/>
              </a:lnSpc>
              <a:spcBef>
                <a:spcPts val="400"/>
              </a:spcBef>
            </a:pPr>
            <a:r>
              <a:rPr lang="en-US" sz="1600" b="1" dirty="0">
                <a:solidFill>
                  <a:srgbClr val="2C1810"/>
                </a:solidFill>
                <a:latin typeface="MiSans" pitchFamily="34" charset="0"/>
                <a:ea typeface="MiSans" pitchFamily="34" charset="-122"/>
                <a:cs typeface="MiSans" pitchFamily="34" charset="-120"/>
              </a:rPr>
              <a:t>४. सांस्कृतिक संकट:</a:t>
            </a:r>
            <a:pPr algn="l">
              <a:lnSpc>
                <a:spcPct val="155000"/>
              </a:lnSpc>
              <a:spcBef>
                <a:spcPts val="400"/>
              </a:spcBef>
            </a:pPr>
            <a:r>
              <a:rPr lang="en-US" sz="1600" dirty="0">
                <a:solidFill>
                  <a:srgbClr val="2C1810"/>
                </a:solidFill>
                <a:latin typeface="MiSans" pitchFamily="34" charset="0"/>
                <a:ea typeface="MiSans" pitchFamily="34" charset="-122"/>
                <a:cs typeface="MiSans" pitchFamily="34" charset="-120"/>
              </a:rPr>
              <a:t> आधुनिकीकरणको लहरले परम्परागत संस्कृतिहरू लोप हुने खतरा बढेको छ।</a:t>
            </a:r>
            <a:endParaRPr lang="en-US" sz="1600" dirty="0"/>
          </a:p>
          <a:p>
            <a:pPr algn="l">
              <a:lnSpc>
                <a:spcPct val="155000"/>
              </a:lnSpc>
              <a:spcBef>
                <a:spcPts val="400"/>
              </a:spcBef>
            </a:pPr>
            <a:r>
              <a:rPr lang="en-US" sz="1600" b="1" dirty="0">
                <a:solidFill>
                  <a:srgbClr val="2C1810"/>
                </a:solidFill>
                <a:latin typeface="MiSans" pitchFamily="34" charset="0"/>
                <a:ea typeface="MiSans" pitchFamily="34" charset="-122"/>
                <a:cs typeface="MiSans" pitchFamily="34" charset="-120"/>
              </a:rPr>
              <a:t>५. राजनीतिक दुरुपयोग:</a:t>
            </a:r>
            <a:pPr algn="l">
              <a:lnSpc>
                <a:spcPct val="155000"/>
              </a:lnSpc>
              <a:spcBef>
                <a:spcPts val="400"/>
              </a:spcBef>
            </a:pPr>
            <a:r>
              <a:rPr lang="en-US" sz="1600" dirty="0">
                <a:solidFill>
                  <a:srgbClr val="2C1810"/>
                </a:solidFill>
                <a:latin typeface="MiSans" pitchFamily="34" charset="0"/>
                <a:ea typeface="MiSans" pitchFamily="34" charset="-122"/>
                <a:cs typeface="MiSans" pitchFamily="34" charset="-120"/>
              </a:rPr>
              <a:t> विविधतालाई राजनीतिक रूपमा दुरुपयोग गरिने प्रवृत्ति पनि देखिन्छ।</a:t>
            </a:r>
            <a:endParaRPr lang="en-US" sz="1600" dirty="0"/>
          </a:p>
        </p:txBody>
      </p:sp>
      <p:sp>
        <p:nvSpPr>
          <p:cNvPr id="7" name="Shape 5"/>
          <p:cNvSpPr/>
          <p:nvPr/>
        </p:nvSpPr>
        <p:spPr>
          <a:xfrm>
            <a:off x="8128000" y="1498600"/>
            <a:ext cx="0" cy="4445000"/>
          </a:xfrm>
          <a:prstGeom prst="straightConnector1">
            <a:avLst/>
          </a:prstGeom>
          <a:noFill/>
          <a:ln w="12700">
            <a:solidFill>
              <a:srgbClr val="E8DFD0"/>
            </a:solidFill>
            <a:prstDash val="solid"/>
            <a:headEnd type="none"/>
            <a:tailEnd type="none"/>
          </a:ln>
        </p:spPr>
      </p:sp>
      <p:sp>
        <p:nvSpPr>
          <p:cNvPr id="8" name="Text 6"/>
          <p:cNvSpPr/>
          <p:nvPr/>
        </p:nvSpPr>
        <p:spPr>
          <a:xfrm>
            <a:off x="8509000" y="1498600"/>
            <a:ext cx="6756400" cy="381000"/>
          </a:xfrm>
          <a:prstGeom prst="rect">
            <a:avLst/>
          </a:prstGeom>
          <a:noFill/>
          <a:ln/>
        </p:spPr>
        <p:txBody>
          <a:bodyPr wrap="none" lIns="0" tIns="0" rIns="0" bIns="0" rtlCol="0" anchor="ctr"/>
          <a:lstStyle/>
          <a:p>
            <a:pPr algn="l">
              <a:lnSpc>
                <a:spcPct val="120000"/>
              </a:lnSpc>
            </a:pPr>
            <a:r>
              <a:rPr lang="en-US" sz="2200" b="1" dirty="0">
                <a:solidFill>
                  <a:srgbClr val="B7410E"/>
                </a:solidFill>
                <a:latin typeface="思源宋体" pitchFamily="34" charset="0"/>
                <a:ea typeface="思源宋体" pitchFamily="34" charset="-122"/>
                <a:cs typeface="思源宋体" pitchFamily="34" charset="-120"/>
              </a:rPr>
              <a:t>समाधानका उपायहरू</a:t>
            </a:r>
            <a:endParaRPr lang="en-US" sz="2200" dirty="0"/>
          </a:p>
        </p:txBody>
      </p:sp>
      <p:sp>
        <p:nvSpPr>
          <p:cNvPr id="9" name="Text 7"/>
          <p:cNvSpPr/>
          <p:nvPr/>
        </p:nvSpPr>
        <p:spPr>
          <a:xfrm>
            <a:off x="8509000" y="2006600"/>
            <a:ext cx="6756400" cy="4038600"/>
          </a:xfrm>
          <a:prstGeom prst="rect">
            <a:avLst/>
          </a:prstGeom>
          <a:noFill/>
          <a:ln/>
        </p:spPr>
        <p:txBody>
          <a:bodyPr wrap="square" lIns="0" tIns="0" rIns="0" bIns="0" rtlCol="0" anchor="t"/>
          <a:lstStyle/>
          <a:p>
            <a:pPr algn="l">
              <a:lnSpc>
                <a:spcPct val="155000"/>
              </a:lnSpc>
            </a:pPr>
            <a:r>
              <a:rPr lang="en-US" sz="1600" b="1" dirty="0">
                <a:solidFill>
                  <a:srgbClr val="2C1810"/>
                </a:solidFill>
                <a:latin typeface="MiSans" pitchFamily="34" charset="0"/>
                <a:ea typeface="MiSans" pitchFamily="34" charset="-122"/>
                <a:cs typeface="MiSans" pitchFamily="34" charset="-120"/>
              </a:rPr>
              <a:t>१. समावेशी राजनीति:</a:t>
            </a:r>
            <a:pPr algn="l">
              <a:lnSpc>
                <a:spcPct val="155000"/>
              </a:lnSpc>
            </a:pPr>
            <a:r>
              <a:rPr lang="en-US" sz="1600" dirty="0">
                <a:solidFill>
                  <a:srgbClr val="2C1810"/>
                </a:solidFill>
                <a:latin typeface="MiSans" pitchFamily="34" charset="0"/>
                <a:ea typeface="MiSans" pitchFamily="34" charset="-122"/>
                <a:cs typeface="MiSans" pitchFamily="34" charset="-120"/>
              </a:rPr>
              <a:t> सबै समुदायको समान सहभागिता सुनिश्चित गर्ने राजनीतिक व्यवस्थाको विकास।</a:t>
            </a:r>
            <a:endParaRPr lang="en-US" sz="1600" dirty="0"/>
          </a:p>
          <a:p>
            <a:pPr algn="l">
              <a:lnSpc>
                <a:spcPct val="155000"/>
              </a:lnSpc>
              <a:spcBef>
                <a:spcPts val="400"/>
              </a:spcBef>
            </a:pPr>
            <a:r>
              <a:rPr lang="en-US" sz="1600" b="1" dirty="0">
                <a:solidFill>
                  <a:srgbClr val="2C1810"/>
                </a:solidFill>
                <a:latin typeface="MiSans" pitchFamily="34" charset="0"/>
                <a:ea typeface="MiSans" pitchFamily="34" charset="-122"/>
                <a:cs typeface="MiSans" pitchFamily="34" charset="-120"/>
              </a:rPr>
              <a:t>२. समावेशी विकास:</a:t>
            </a:r>
            <a:pPr algn="l">
              <a:lnSpc>
                <a:spcPct val="155000"/>
              </a:lnSpc>
              <a:spcBef>
                <a:spcPts val="400"/>
              </a:spcBef>
            </a:pPr>
            <a:r>
              <a:rPr lang="en-US" sz="1600" dirty="0">
                <a:solidFill>
                  <a:srgbClr val="2C1810"/>
                </a:solidFill>
                <a:latin typeface="MiSans" pitchFamily="34" charset="0"/>
                <a:ea typeface="MiSans" pitchFamily="34" charset="-122"/>
                <a:cs typeface="MiSans" pitchFamily="34" charset="-120"/>
              </a:rPr>
              <a:t> सबै क्षेत्र र समुदायमा समान आर्थिक विकासको अवसर सिर्जना।</a:t>
            </a:r>
            <a:endParaRPr lang="en-US" sz="1600" dirty="0"/>
          </a:p>
          <a:p>
            <a:pPr algn="l">
              <a:lnSpc>
                <a:spcPct val="155000"/>
              </a:lnSpc>
              <a:spcBef>
                <a:spcPts val="400"/>
              </a:spcBef>
            </a:pPr>
            <a:r>
              <a:rPr lang="en-US" sz="1600" b="1" dirty="0">
                <a:solidFill>
                  <a:srgbClr val="2C1810"/>
                </a:solidFill>
                <a:latin typeface="MiSans" pitchFamily="34" charset="0"/>
                <a:ea typeface="MiSans" pitchFamily="34" charset="-122"/>
                <a:cs typeface="MiSans" pitchFamily="34" charset="-120"/>
              </a:rPr>
              <a:t>३. संस्कृति संरक्षण:</a:t>
            </a:r>
            <a:pPr algn="l">
              <a:lnSpc>
                <a:spcPct val="155000"/>
              </a:lnSpc>
              <a:spcBef>
                <a:spcPts val="400"/>
              </a:spcBef>
            </a:pPr>
            <a:r>
              <a:rPr lang="en-US" sz="1600" dirty="0">
                <a:solidFill>
                  <a:srgbClr val="2C1810"/>
                </a:solidFill>
                <a:latin typeface="MiSans" pitchFamily="34" charset="0"/>
                <a:ea typeface="MiSans" pitchFamily="34" charset="-122"/>
                <a:cs typeface="MiSans" pitchFamily="34" charset="-120"/>
              </a:rPr>
              <a:t> सबै भाषा र संस्कृतिको संरक्षण र प्रवर्द्धनमा राज्यको सक्रिय भूमिका।</a:t>
            </a:r>
            <a:endParaRPr lang="en-US" sz="1600" dirty="0"/>
          </a:p>
          <a:p>
            <a:pPr algn="l">
              <a:lnSpc>
                <a:spcPct val="155000"/>
              </a:lnSpc>
              <a:spcBef>
                <a:spcPts val="400"/>
              </a:spcBef>
            </a:pPr>
            <a:r>
              <a:rPr lang="en-US" sz="1600" b="1" dirty="0">
                <a:solidFill>
                  <a:srgbClr val="2C1810"/>
                </a:solidFill>
                <a:latin typeface="MiSans" pitchFamily="34" charset="0"/>
                <a:ea typeface="MiSans" pitchFamily="34" charset="-122"/>
                <a:cs typeface="MiSans" pitchFamily="34" charset="-120"/>
              </a:rPr>
              <a:t>४. अन्तरसांस्कृतिक संवाद:</a:t>
            </a:r>
            <a:pPr algn="l">
              <a:lnSpc>
                <a:spcPct val="155000"/>
              </a:lnSpc>
              <a:spcBef>
                <a:spcPts val="400"/>
              </a:spcBef>
            </a:pPr>
            <a:r>
              <a:rPr lang="en-US" sz="1600" dirty="0">
                <a:solidFill>
                  <a:srgbClr val="2C1810"/>
                </a:solidFill>
                <a:latin typeface="MiSans" pitchFamily="34" charset="0"/>
                <a:ea typeface="MiSans" pitchFamily="34" charset="-122"/>
                <a:cs typeface="MiSans" pitchFamily="34" charset="-120"/>
              </a:rPr>
              <a:t> विभिन्न समुदायबीच सद्भाव र आपसी बुझाइको वातावरण निर्माण।</a:t>
            </a:r>
            <a:endParaRPr lang="en-US" sz="1600" dirty="0"/>
          </a:p>
          <a:p>
            <a:pPr algn="l">
              <a:lnSpc>
                <a:spcPct val="155000"/>
              </a:lnSpc>
              <a:spcBef>
                <a:spcPts val="400"/>
              </a:spcBef>
            </a:pPr>
            <a:r>
              <a:rPr lang="en-US" sz="1600" b="1" dirty="0">
                <a:solidFill>
                  <a:srgbClr val="2C1810"/>
                </a:solidFill>
                <a:latin typeface="MiSans" pitchFamily="34" charset="0"/>
                <a:ea typeface="MiSans" pitchFamily="34" charset="-122"/>
                <a:cs typeface="MiSans" pitchFamily="34" charset="-120"/>
              </a:rPr>
              <a:t>५. शिक्षा र चेतना:</a:t>
            </a:r>
            <a:pPr algn="l">
              <a:lnSpc>
                <a:spcPct val="155000"/>
              </a:lnSpc>
              <a:spcBef>
                <a:spcPts val="400"/>
              </a:spcBef>
            </a:pPr>
            <a:r>
              <a:rPr lang="en-US" sz="1600" dirty="0">
                <a:solidFill>
                  <a:srgbClr val="2C1810"/>
                </a:solidFill>
                <a:latin typeface="MiSans" pitchFamily="34" charset="0"/>
                <a:ea typeface="MiSans" pitchFamily="34" charset="-122"/>
                <a:cs typeface="MiSans" pitchFamily="34" charset="-120"/>
              </a:rPr>
              <a:t> राष्ट्रिय एकताको मूल्यमान्यतालाई शिक्षामा समावेश गर्ने नीति।</a:t>
            </a:r>
            <a:endParaRPr lang="en-US" sz="1600" dirty="0"/>
          </a:p>
        </p:txBody>
      </p:sp>
      <p:sp>
        <p:nvSpPr>
          <p:cNvPr id="10" name="Shape 8"/>
          <p:cNvSpPr/>
          <p:nvPr/>
        </p:nvSpPr>
        <p:spPr>
          <a:xfrm>
            <a:off x="990600" y="6159500"/>
            <a:ext cx="14274800" cy="1206500"/>
          </a:xfrm>
          <a:prstGeom prst="rect">
            <a:avLst/>
          </a:prstGeom>
          <a:solidFill>
            <a:srgbClr val="B7410E">
              <a:alpha val="3137"/>
            </a:srgbClr>
          </a:solidFill>
          <a:ln/>
        </p:spPr>
      </p:sp>
      <p:sp>
        <p:nvSpPr>
          <p:cNvPr id="11" name="Shape 9"/>
          <p:cNvSpPr/>
          <p:nvPr/>
        </p:nvSpPr>
        <p:spPr>
          <a:xfrm>
            <a:off x="990600" y="6159500"/>
            <a:ext cx="63500" cy="1206500"/>
          </a:xfrm>
          <a:prstGeom prst="rect">
            <a:avLst/>
          </a:prstGeom>
          <a:solidFill>
            <a:srgbClr val="B7410E"/>
          </a:solidFill>
          <a:ln/>
        </p:spPr>
      </p:sp>
      <p:sp>
        <p:nvSpPr>
          <p:cNvPr id="12" name="Text 10"/>
          <p:cNvSpPr/>
          <p:nvPr/>
        </p:nvSpPr>
        <p:spPr>
          <a:xfrm>
            <a:off x="1270000" y="6248400"/>
            <a:ext cx="13716000" cy="1016000"/>
          </a:xfrm>
          <a:prstGeom prst="rect">
            <a:avLst/>
          </a:prstGeom>
          <a:noFill/>
          <a:ln/>
        </p:spPr>
        <p:txBody>
          <a:bodyPr wrap="square" lIns="0" tIns="0" rIns="0" bIns="0" rtlCol="0" anchor="ctr"/>
          <a:lstStyle/>
          <a:p>
            <a:pPr algn="l">
              <a:lnSpc>
                <a:spcPct val="170000"/>
              </a:lnSpc>
            </a:pPr>
            <a:r>
              <a:rPr lang="en-US" sz="1900" dirty="0">
                <a:solidFill>
                  <a:srgbClr val="2C1810"/>
                </a:solidFill>
                <a:latin typeface="MiSans" pitchFamily="34" charset="0"/>
                <a:ea typeface="MiSans" pitchFamily="34" charset="-122"/>
                <a:cs typeface="MiSans" pitchFamily="34" charset="-120"/>
              </a:rPr>
              <a:t>यी चुनौतीहरूको सामना गर्न </a:t>
            </a:r>
            <a:pPr algn="l">
              <a:lnSpc>
                <a:spcPct val="170000"/>
              </a:lnSpc>
            </a:pPr>
            <a:r>
              <a:rPr lang="en-US" sz="1900" b="1" dirty="0">
                <a:solidFill>
                  <a:srgbClr val="2C1810"/>
                </a:solidFill>
                <a:latin typeface="MiSans" pitchFamily="34" charset="0"/>
                <a:ea typeface="MiSans" pitchFamily="34" charset="-122"/>
                <a:cs typeface="MiSans" pitchFamily="34" charset="-120"/>
              </a:rPr>
              <a:t>सबै नेपालीको साझा प्रयास</a:t>
            </a:r>
            <a:pPr algn="l">
              <a:lnSpc>
                <a:spcPct val="170000"/>
              </a:lnSpc>
            </a:pPr>
            <a:r>
              <a:rPr lang="en-US" sz="1900" dirty="0">
                <a:solidFill>
                  <a:srgbClr val="2C1810"/>
                </a:solidFill>
                <a:latin typeface="MiSans" pitchFamily="34" charset="0"/>
                <a:ea typeface="MiSans" pitchFamily="34" charset="-122"/>
                <a:cs typeface="MiSans" pitchFamily="34" charset="-120"/>
              </a:rPr>
              <a:t> आवश्यक छ। विविधतालाई एकताको शक्तिमा रूपान्तरण गर्न सके मात्र नेपाल समृद्ध राष्ट्रको रूपमा विकास हुन सक्छ।</a:t>
            </a:r>
            <a:endParaRPr lang="en-US" sz="1900" dirty="0"/>
          </a:p>
        </p:txBody>
      </p:sp>
      <p:sp>
        <p:nvSpPr>
          <p:cNvPr id="13" name="Shape 11"/>
          <p:cNvSpPr/>
          <p:nvPr/>
        </p:nvSpPr>
        <p:spPr>
          <a:xfrm>
            <a:off x="762000" y="8636000"/>
            <a:ext cx="14732000" cy="0"/>
          </a:xfrm>
          <a:prstGeom prst="straightConnector1">
            <a:avLst/>
          </a:prstGeom>
          <a:noFill/>
          <a:ln w="12700">
            <a:solidFill>
              <a:srgbClr val="E8DFD0"/>
            </a:solidFill>
            <a:prstDash val="solid"/>
            <a:headEnd type="none"/>
            <a:tailEnd type="none"/>
          </a:ln>
        </p:spPr>
      </p:sp>
      <p:sp>
        <p:nvSpPr>
          <p:cNvPr id="14" name="Text 12"/>
          <p:cNvSpPr/>
          <p:nvPr/>
        </p:nvSpPr>
        <p:spPr>
          <a:xfrm>
            <a:off x="14732000" y="8699500"/>
            <a:ext cx="762000" cy="304800"/>
          </a:xfrm>
          <a:prstGeom prst="rect">
            <a:avLst/>
          </a:prstGeom>
          <a:noFill/>
          <a:ln/>
        </p:spPr>
        <p:txBody>
          <a:bodyPr wrap="none" lIns="0" tIns="0" rIns="0" bIns="0" rtlCol="0" anchor="ctr"/>
          <a:lstStyle/>
          <a:p>
            <a:pPr algn="r">
              <a:lnSpc>
                <a:spcPct val="140000"/>
              </a:lnSpc>
            </a:pPr>
            <a:r>
              <a:rPr lang="en-US" sz="1400" dirty="0">
                <a:solidFill>
                  <a:srgbClr val="8B7355"/>
                </a:solidFill>
                <a:latin typeface="MiSans" pitchFamily="34" charset="0"/>
                <a:ea typeface="MiSans" pitchFamily="34" charset="-122"/>
                <a:cs typeface="MiSans" pitchFamily="34" charset="-120"/>
              </a:rPr>
              <a:t>११</a:t>
            </a:r>
            <a:endParaRPr lang="en-US" sz="14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D2317"/>
        </a:solidFill>
      </p:bgPr>
    </p:bg>
    <p:spTree>
      <p:nvGrpSpPr>
        <p:cNvPr id="1" name=""/>
        <p:cNvGrpSpPr/>
        <p:nvPr/>
      </p:nvGrpSpPr>
      <p:grpSpPr>
        <a:xfrm>
          <a:off x="0" y="0"/>
          <a:ext cx="0" cy="0"/>
          <a:chOff x="0" y="0"/>
          <a:chExt cx="0" cy="0"/>
        </a:xfrm>
      </p:grpSpPr>
      <p:sp>
        <p:nvSpPr>
          <p:cNvPr id="2" name="Shape 0"/>
          <p:cNvSpPr/>
          <p:nvPr/>
        </p:nvSpPr>
        <p:spPr>
          <a:xfrm>
            <a:off x="4318000" y="2032000"/>
            <a:ext cx="7620000" cy="0"/>
          </a:xfrm>
          <a:prstGeom prst="straightConnector1">
            <a:avLst/>
          </a:prstGeom>
          <a:noFill/>
          <a:ln w="25400">
            <a:solidFill>
              <a:srgbClr val="B7410E"/>
            </a:solidFill>
            <a:prstDash val="solid"/>
            <a:headEnd type="none"/>
            <a:tailEnd type="none"/>
          </a:ln>
        </p:spPr>
      </p:sp>
      <p:sp>
        <p:nvSpPr>
          <p:cNvPr id="3" name="Text 1"/>
          <p:cNvSpPr/>
          <p:nvPr/>
        </p:nvSpPr>
        <p:spPr>
          <a:xfrm>
            <a:off x="1778000" y="2413000"/>
            <a:ext cx="12700000" cy="889000"/>
          </a:xfrm>
          <a:prstGeom prst="rect">
            <a:avLst/>
          </a:prstGeom>
          <a:noFill/>
          <a:ln/>
        </p:spPr>
        <p:txBody>
          <a:bodyPr wrap="none" lIns="0" tIns="0" rIns="0" bIns="0" rtlCol="0" anchor="ctr"/>
          <a:lstStyle/>
          <a:p>
            <a:pPr algn="ctr">
              <a:lnSpc>
                <a:spcPct val="120000"/>
              </a:lnSpc>
            </a:pPr>
            <a:r>
              <a:rPr lang="en-US" sz="4400" b="1" spc="300" kern="0" dirty="0">
                <a:solidFill>
                  <a:srgbClr val="FFFFFF"/>
                </a:solidFill>
                <a:latin typeface="思源宋体" pitchFamily="34" charset="0"/>
                <a:ea typeface="思源宋体" pitchFamily="34" charset="-122"/>
                <a:cs typeface="思源宋体" pitchFamily="34" charset="-120"/>
              </a:rPr>
              <a:t>निष्कर्ष</a:t>
            </a:r>
            <a:endParaRPr lang="en-US" sz="4400" dirty="0"/>
          </a:p>
        </p:txBody>
      </p:sp>
      <p:sp>
        <p:nvSpPr>
          <p:cNvPr id="4" name="Shape 2"/>
          <p:cNvSpPr/>
          <p:nvPr/>
        </p:nvSpPr>
        <p:spPr>
          <a:xfrm>
            <a:off x="5588000" y="3429000"/>
            <a:ext cx="5080000" cy="0"/>
          </a:xfrm>
          <a:prstGeom prst="straightConnector1">
            <a:avLst/>
          </a:prstGeom>
          <a:noFill/>
          <a:ln w="25400">
            <a:solidFill>
              <a:srgbClr val="B7410E"/>
            </a:solidFill>
            <a:prstDash val="solid"/>
            <a:headEnd type="none"/>
            <a:tailEnd type="none"/>
          </a:ln>
        </p:spPr>
      </p:sp>
      <p:sp>
        <p:nvSpPr>
          <p:cNvPr id="5" name="Text 3"/>
          <p:cNvSpPr/>
          <p:nvPr/>
        </p:nvSpPr>
        <p:spPr>
          <a:xfrm>
            <a:off x="1524000" y="3683000"/>
            <a:ext cx="13208000" cy="2032000"/>
          </a:xfrm>
          <a:prstGeom prst="rect">
            <a:avLst/>
          </a:prstGeom>
          <a:noFill/>
          <a:ln/>
        </p:spPr>
        <p:txBody>
          <a:bodyPr wrap="square" lIns="0" tIns="0" rIns="0" bIns="0" rtlCol="0" anchor="ctr"/>
          <a:lstStyle/>
          <a:p>
            <a:pPr algn="ctr">
              <a:lnSpc>
                <a:spcPct val="180000"/>
              </a:lnSpc>
            </a:pPr>
            <a:r>
              <a:rPr lang="en-US" sz="2200" i="1" dirty="0">
                <a:solidFill>
                  <a:srgbClr val="F5F0E8"/>
                </a:solidFill>
                <a:latin typeface="思源宋体" pitchFamily="34" charset="0"/>
                <a:ea typeface="思源宋体" pitchFamily="34" charset="-122"/>
                <a:cs typeface="思源宋体" pitchFamily="34" charset="-120"/>
              </a:rPr>
              <a:t>"विविधता नै नेपालको शान हो र एकता नै नेपालको जान हो।</a:t>
            </a:r>
            <a:endParaRPr lang="en-US" sz="2200" dirty="0"/>
          </a:p>
          <a:p>
            <a:pPr algn="ctr">
              <a:lnSpc>
                <a:spcPct val="180000"/>
              </a:lnSpc>
            </a:pPr>
            <a:r>
              <a:rPr lang="en-US" sz="2200" i="1" dirty="0">
                <a:solidFill>
                  <a:srgbClr val="F5F0E8"/>
                </a:solidFill>
                <a:latin typeface="思源宋体" pitchFamily="34" charset="0"/>
                <a:ea typeface="思源宋体" pitchFamily="34" charset="-122"/>
                <a:cs typeface="思源宋体" pitchFamily="34" charset="-120"/>
              </a:rPr>
              <a:t>हाम्रो विभिन्नता हाम्रो शक्ति हो — हामीले यसलाई फोड्ने होइन, जोड्ने प्रयास गर्नुपर्छ।"</a:t>
            </a:r>
            <a:endParaRPr lang="en-US" sz="2200" dirty="0"/>
          </a:p>
        </p:txBody>
      </p:sp>
      <p:sp>
        <p:nvSpPr>
          <p:cNvPr id="6" name="Text 4"/>
          <p:cNvSpPr/>
          <p:nvPr/>
        </p:nvSpPr>
        <p:spPr>
          <a:xfrm>
            <a:off x="2540000" y="5969000"/>
            <a:ext cx="11176000" cy="635000"/>
          </a:xfrm>
          <a:prstGeom prst="rect">
            <a:avLst/>
          </a:prstGeom>
          <a:noFill/>
          <a:ln/>
        </p:spPr>
        <p:txBody>
          <a:bodyPr wrap="none" lIns="0" tIns="0" rIns="0" bIns="0" rtlCol="0" anchor="ctr"/>
          <a:lstStyle/>
          <a:p>
            <a:pPr algn="ctr">
              <a:lnSpc>
                <a:spcPct val="120000"/>
              </a:lnSpc>
            </a:pPr>
            <a:r>
              <a:rPr lang="en-US" sz="2200" dirty="0">
                <a:solidFill>
                  <a:srgbClr val="E8DFD0"/>
                </a:solidFill>
                <a:latin typeface="MiSans" pitchFamily="34" charset="0"/>
                <a:ea typeface="MiSans" pitchFamily="34" charset="-122"/>
                <a:cs typeface="MiSans" pitchFamily="34" charset="-120"/>
              </a:rPr>
              <a:t>"एकतामा बल, विविधतामा शान" — यही नै नेपालको राष्ट्रिय नारा हुनुपर्छ।</a:t>
            </a:r>
            <a:endParaRPr lang="en-US" sz="2200" dirty="0"/>
          </a:p>
        </p:txBody>
      </p:sp>
      <p:sp>
        <p:nvSpPr>
          <p:cNvPr id="7" name="Shape 5"/>
          <p:cNvSpPr/>
          <p:nvPr/>
        </p:nvSpPr>
        <p:spPr>
          <a:xfrm>
            <a:off x="7924800" y="6794500"/>
            <a:ext cx="406400" cy="406400"/>
          </a:xfrm>
          <a:prstGeom prst="diamond">
            <a:avLst/>
          </a:prstGeom>
          <a:solidFill>
            <a:srgbClr val="B7410E"/>
          </a:solidFill>
          <a:ln/>
        </p:spPr>
      </p:sp>
      <p:sp>
        <p:nvSpPr>
          <p:cNvPr id="8" name="Shape 6"/>
          <p:cNvSpPr/>
          <p:nvPr/>
        </p:nvSpPr>
        <p:spPr>
          <a:xfrm>
            <a:off x="4318000" y="7429500"/>
            <a:ext cx="7620000" cy="0"/>
          </a:xfrm>
          <a:prstGeom prst="straightConnector1">
            <a:avLst/>
          </a:prstGeom>
          <a:noFill/>
          <a:ln w="25400">
            <a:solidFill>
              <a:srgbClr val="B7410E"/>
            </a:solidFill>
            <a:prstDash val="solid"/>
            <a:headEnd type="none"/>
            <a:tailEnd type="none"/>
          </a:ln>
        </p:spPr>
      </p:sp>
      <p:sp>
        <p:nvSpPr>
          <p:cNvPr id="9" name="Text 7"/>
          <p:cNvSpPr/>
          <p:nvPr/>
        </p:nvSpPr>
        <p:spPr>
          <a:xfrm>
            <a:off x="5588000" y="7620000"/>
            <a:ext cx="5080000" cy="508000"/>
          </a:xfrm>
          <a:prstGeom prst="rect">
            <a:avLst/>
          </a:prstGeom>
          <a:noFill/>
          <a:ln/>
        </p:spPr>
        <p:txBody>
          <a:bodyPr wrap="none" lIns="0" tIns="0" rIns="0" bIns="0" rtlCol="0" anchor="ctr"/>
          <a:lstStyle/>
          <a:p>
            <a:pPr algn="ctr">
              <a:lnSpc>
                <a:spcPct val="120000"/>
              </a:lnSpc>
            </a:pPr>
            <a:r>
              <a:rPr lang="en-US" sz="2000" spc="400" kern="0" dirty="0">
                <a:solidFill>
                  <a:srgbClr val="8B7355"/>
                </a:solidFill>
                <a:latin typeface="MiSans" pitchFamily="34" charset="0"/>
                <a:ea typeface="MiSans" pitchFamily="34" charset="-122"/>
                <a:cs typeface="MiSans" pitchFamily="34" charset="-120"/>
              </a:rPr>
              <a:t>धन्यवाद</a:t>
            </a:r>
            <a:endParaRPr lang="en-US" sz="2000" dirty="0"/>
          </a:p>
        </p:txBody>
      </p:sp>
      <p:sp>
        <p:nvSpPr>
          <p:cNvPr id="10" name="Shape 8"/>
          <p:cNvSpPr/>
          <p:nvPr/>
        </p:nvSpPr>
        <p:spPr>
          <a:xfrm>
            <a:off x="0" y="8890000"/>
            <a:ext cx="16256000" cy="254000"/>
          </a:xfrm>
          <a:prstGeom prst="rect">
            <a:avLst/>
          </a:prstGeom>
          <a:solidFill>
            <a:srgbClr val="B7410E"/>
          </a:solidFill>
          <a:ln/>
        </p:spPr>
      </p:sp>
      <p:sp>
        <p:nvSpPr>
          <p:cNvPr id="11" name="Shape 9"/>
          <p:cNvSpPr/>
          <p:nvPr/>
        </p:nvSpPr>
        <p:spPr>
          <a:xfrm>
            <a:off x="1016000" y="1778000"/>
            <a:ext cx="0" cy="5588000"/>
          </a:xfrm>
          <a:prstGeom prst="straightConnector1">
            <a:avLst/>
          </a:prstGeom>
          <a:noFill/>
          <a:ln w="12700">
            <a:solidFill>
              <a:srgbClr val="B7410E">
                <a:alpha val="12549"/>
              </a:srgbClr>
            </a:solidFill>
            <a:prstDash val="solid"/>
            <a:headEnd type="none"/>
            <a:tailEnd type="none"/>
          </a:ln>
        </p:spPr>
      </p:sp>
      <p:sp>
        <p:nvSpPr>
          <p:cNvPr id="12" name="Shape 10"/>
          <p:cNvSpPr/>
          <p:nvPr/>
        </p:nvSpPr>
        <p:spPr>
          <a:xfrm>
            <a:off x="15240000" y="1778000"/>
            <a:ext cx="0" cy="5588000"/>
          </a:xfrm>
          <a:prstGeom prst="straightConnector1">
            <a:avLst/>
          </a:prstGeom>
          <a:noFill/>
          <a:ln w="12700">
            <a:solidFill>
              <a:srgbClr val="B7410E">
                <a:alpha val="12549"/>
              </a:srgbClr>
            </a:solidFill>
            <a:prstDash val="solid"/>
            <a:headEnd type="none"/>
            <a:tailEnd type="none"/>
          </a:ln>
        </p:spPr>
      </p:sp>
    </p:spTree>
  </p:cSld>
  <p:clrMapOvr>
    <a:masterClrMapping/>
  </p:clrMapOvr>
  <p:transition>
    <p:fade/>
    <p:spd val="med"/>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विविधतामा एकता</dc:title>
  <dc:subject>विविधतामा एकता</dc:subject>
  <dc:creator>Kimi</dc:creator>
  <cp:lastModifiedBy>Kimi</cp:lastModifiedBy>
  <cp:revision>1</cp:revision>
  <dcterms:created xsi:type="dcterms:W3CDTF">2026-07-04T12:22:44Z</dcterms:created>
  <dcterms:modified xsi:type="dcterms:W3CDTF">2026-07-04T12:22:44Z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{"Label":"विविधतामा एकता","ContentProducer":"001191110108MACG2KBH8F10000","ProduceID":"19f2cbfc-5352-859b-8000-00002a88dc49","ReservedCode1":"","ContentPropagator":"001191110108MACG2KBH8F20000","PropagateID":"19f2cbc7-10e2-878b-8000-09fe1293cb4e","ReservedCode2":""}</vt:lpwstr>
  </property>
</Properties>
</file>